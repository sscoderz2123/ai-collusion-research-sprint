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E2A44"/>
                </a:solidFill>
                <a:latin typeface="+mn-lt"/>
              </a:defRPr>
            </a:pPr>
            <a:r>
              <a:rPr lang="en-US" sz="1500" b="0" i="0" u="none" strike="noStrike">
                <a:solidFill>
                  <a:srgbClr val="1E2A44"/>
                </a:solidFill>
                <a:latin typeface="+mn-lt"/>
              </a:rPr>
              <a:t>Run 9: profit index after the replacement (29 markets)</a:t>
            </a:r>
          </a:p>
        </c:rich>
      </c:tx>
      <c:overlay val="0"/>
    </c:title>
    <c:autoTitleDeleted val="0"/>
    <c:plotArea>
      <c:layout/>
      <c:barChart>
        <c:barDir val="bar"/>
        <c:grouping val="clustered"/>
        <c:varyColors val="0"/>
        <c:ser>
          <c:idx val="0"/>
          <c:order val="0"/>
          <c:tx>
            <c:strRef>
              <c:f>Sheet1!$B$1</c:f>
              <c:strCache>
                <c:ptCount val="1"/>
                <c:pt idx="0">
                  <c:v>Profit index, rounds 150–199</c:v>
                </c:pt>
              </c:strCache>
            </c:strRef>
          </c:tx>
          <c:spPr>
            <a:solidFill>
              <a:srgbClr val="1E2A44"/>
            </a:solidFill>
            <a:effectLst/>
          </c:spPr>
          <c:invertIfNegative val="0"/>
          <c:dPt>
            <c:idx val="0"/>
            <c:invertIfNegative val="0"/>
            <c:bubble3D val="0"/>
            <c:extLst>
              <c:ext xmlns:c16="http://schemas.microsoft.com/office/drawing/2014/chart" uri="{C3380CC4-5D6E-409C-BE32-E72D297353CC}">
                <c16:uniqueId val="{00000001-A519-426E-A48F-A564C55CC377}"/>
              </c:ext>
            </c:extLst>
          </c:dPt>
          <c:dPt>
            <c:idx val="1"/>
            <c:invertIfNegative val="0"/>
            <c:bubble3D val="0"/>
            <c:spPr>
              <a:solidFill>
                <a:srgbClr val="AEB8C6"/>
              </a:solidFill>
              <a:effectLst/>
            </c:spPr>
            <c:extLst>
              <c:ext xmlns:c16="http://schemas.microsoft.com/office/drawing/2014/chart" uri="{C3380CC4-5D6E-409C-BE32-E72D297353CC}">
                <c16:uniqueId val="{00000003-A519-426E-A48F-A564C55CC377}"/>
              </c:ext>
            </c:extLst>
          </c:dPt>
          <c:dPt>
            <c:idx val="2"/>
            <c:invertIfNegative val="0"/>
            <c:bubble3D val="0"/>
            <c:spPr>
              <a:solidFill>
                <a:srgbClr val="1F6F8B"/>
              </a:solidFill>
              <a:effectLst/>
            </c:spPr>
            <c:extLst>
              <c:ext xmlns:c16="http://schemas.microsoft.com/office/drawing/2014/chart" uri="{C3380CC4-5D6E-409C-BE32-E72D297353CC}">
                <c16:uniqueId val="{00000005-A519-426E-A48F-A564C55CC377}"/>
              </c:ext>
            </c:extLst>
          </c:dPt>
          <c:dPt>
            <c:idx val="3"/>
            <c:invertIfNegative val="0"/>
            <c:bubble3D val="0"/>
            <c:spPr>
              <a:solidFill>
                <a:srgbClr val="C8553D"/>
              </a:solidFill>
              <a:effectLst/>
            </c:spPr>
            <c:extLst>
              <c:ext xmlns:c16="http://schemas.microsoft.com/office/drawing/2014/chart" uri="{C3380CC4-5D6E-409C-BE32-E72D297353CC}">
                <c16:uniqueId val="{00000007-A519-426E-A48F-A564C55CC377}"/>
              </c:ext>
            </c:extLst>
          </c:dPt>
          <c:dPt>
            <c:idx val="4"/>
            <c:invertIfNegative val="0"/>
            <c:bubble3D val="0"/>
            <c:spPr>
              <a:solidFill>
                <a:srgbClr val="AEB8C6"/>
              </a:solidFill>
              <a:effectLst/>
            </c:spPr>
            <c:extLst>
              <c:ext xmlns:c16="http://schemas.microsoft.com/office/drawing/2014/chart" uri="{C3380CC4-5D6E-409C-BE32-E72D297353CC}">
                <c16:uniqueId val="{00000009-A519-426E-A48F-A564C55CC377}"/>
              </c:ext>
            </c:extLst>
          </c:dPt>
          <c:dPt>
            <c:idx val="5"/>
            <c:invertIfNegative val="0"/>
            <c:bubble3D val="0"/>
            <c:spPr>
              <a:solidFill>
                <a:srgbClr val="AEB8C6"/>
              </a:solidFill>
              <a:effectLst/>
            </c:spPr>
            <c:extLst>
              <c:ext xmlns:c16="http://schemas.microsoft.com/office/drawing/2014/chart" uri="{C3380CC4-5D6E-409C-BE32-E72D297353CC}">
                <c16:uniqueId val="{0000000B-A519-426E-A48F-A564C55CC377}"/>
              </c:ext>
            </c:extLst>
          </c:dPt>
          <c:dPt>
            <c:idx val="6"/>
            <c:invertIfNegative val="0"/>
            <c:bubble3D val="0"/>
            <c:spPr>
              <a:solidFill>
                <a:srgbClr val="AEB8C6"/>
              </a:solidFill>
              <a:effectLst/>
            </c:spPr>
            <c:extLst>
              <c:ext xmlns:c16="http://schemas.microsoft.com/office/drawing/2014/chart" uri="{C3380CC4-5D6E-409C-BE32-E72D297353CC}">
                <c16:uniqueId val="{0000000D-A519-426E-A48F-A564C55CC377}"/>
              </c:ext>
            </c:extLst>
          </c:dPt>
          <c:dPt>
            <c:idx val="7"/>
            <c:invertIfNegative val="0"/>
            <c:bubble3D val="0"/>
            <c:spPr>
              <a:solidFill>
                <a:srgbClr val="AEB8C6"/>
              </a:solidFill>
              <a:effectLst/>
            </c:spPr>
            <c:extLst>
              <c:ext xmlns:c16="http://schemas.microsoft.com/office/drawing/2014/chart" uri="{C3380CC4-5D6E-409C-BE32-E72D297353CC}">
                <c16:uniqueId val="{0000000F-A519-426E-A48F-A564C55CC377}"/>
              </c:ext>
            </c:extLst>
          </c:dPt>
          <c:dLbls>
            <c:numFmt formatCode="0.000" sourceLinked="0"/>
            <c:spPr>
              <a:noFill/>
              <a:ln>
                <a:noFill/>
              </a:ln>
              <a:effectLst/>
            </c:spPr>
            <c:txPr>
              <a:bodyPr/>
              <a:lstStyle/>
              <a:p>
                <a:pPr>
                  <a:defRPr sz="1300" b="0" i="0" u="none" strike="noStrike">
                    <a:solidFill>
                      <a:srgbClr val="1E2A4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Control</c:v>
                </c:pt>
                <c:pt idx="1">
                  <c:v>Placebo</c:v>
                </c:pt>
                <c:pt idx="2">
                  <c:v>Same + history</c:v>
                </c:pt>
                <c:pt idx="3">
                  <c:v>Same, notes only</c:v>
                </c:pt>
                <c:pt idx="4">
                  <c:v>Same, no history</c:v>
                </c:pt>
                <c:pt idx="5">
                  <c:v>Other + history</c:v>
                </c:pt>
                <c:pt idx="6">
                  <c:v>Other, no history</c:v>
                </c:pt>
                <c:pt idx="7">
                  <c:v>Best-response bot</c:v>
                </c:pt>
              </c:strCache>
            </c:strRef>
          </c:cat>
          <c:val>
            <c:numRef>
              <c:f>Sheet1!$B$2:$B$9</c:f>
              <c:numCache>
                <c:formatCode>General</c:formatCode>
                <c:ptCount val="8"/>
                <c:pt idx="0">
                  <c:v>0.9</c:v>
                </c:pt>
                <c:pt idx="1">
                  <c:v>0.88400000000000001</c:v>
                </c:pt>
                <c:pt idx="2">
                  <c:v>0.876</c:v>
                </c:pt>
                <c:pt idx="3">
                  <c:v>0.63</c:v>
                </c:pt>
                <c:pt idx="4">
                  <c:v>0.28899999999999998</c:v>
                </c:pt>
                <c:pt idx="5">
                  <c:v>0.19900000000000001</c:v>
                </c:pt>
                <c:pt idx="6">
                  <c:v>3.9E-2</c:v>
                </c:pt>
                <c:pt idx="7">
                  <c:v>2.3E-2</c:v>
                </c:pt>
              </c:numCache>
            </c:numRef>
          </c:val>
          <c:extLst>
            <c:ext xmlns:c16="http://schemas.microsoft.com/office/drawing/2014/chart" uri="{C3380CC4-5D6E-409C-BE32-E72D297353CC}">
              <c16:uniqueId val="{00000010-A519-426E-A48F-A564C55CC377}"/>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E2A44"/>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t"/>
        <c:majorGridlines>
          <c:spPr>
            <a:ln w="9525" cap="flat">
              <a:solidFill>
                <a:srgbClr val="E7DCCB"/>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626B7F"/>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7682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AI agents that set prices for two competing firms often learn to keep prices high without being told to. We ask what happens when one of them is replaced. Short answer: the cartel survives if the new agent reads the old price history.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tells a regulator which item a remedy must change: the agent, the data it inherits, or its memory.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profit index near 1 means the two agents behave like a cartel. We report both indices because they disagree when prices overshoot the monopoly price.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independent runs, hypotheses fixed in advance, 95% bootstrap intervals over markets. Runs without a stable cartel are reported too.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Profit index 0 = competitive, 1 = monopoly. 'Same + history' differs from no replacement by between –0.025 and +0.213 across the six runs.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blank entrant has no anchor. It starts high and stays above the monopoly price, so both firms sell less. Only the best-response bot and the Mistral entrant reach competitive prices.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different model' is not one treatment. A sticky model keeps the inherited prices by inertia; an exploring model drifts to competition.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inherited high prices persist because the agents anchor on what they see, not because they threaten a price war.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of analysis moves from the agent to the agent and its context.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stored run data through the analysis code in the repository. The report lists every run, null results and failures.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6F8B"/>
          </a:solidFill>
          <a:ln/>
        </p:spPr>
      </p:sp>
      <p:sp>
        <p:nvSpPr>
          <p:cNvPr id="3" name="Shape 1"/>
          <p:cNvSpPr/>
          <p:nvPr/>
        </p:nvSpPr>
        <p:spPr>
          <a:xfrm>
            <a:off x="548640" y="1143000"/>
            <a:ext cx="1097280" cy="54864"/>
          </a:xfrm>
          <a:prstGeom prst="rect">
            <a:avLst/>
          </a:prstGeom>
          <a:solidFill>
            <a:srgbClr val="C8553D"/>
          </a:solidFill>
          <a:ln/>
        </p:spPr>
      </p:sp>
      <p:sp>
        <p:nvSpPr>
          <p:cNvPr id="4" name="Text 2"/>
          <p:cNvSpPr/>
          <p:nvPr/>
        </p:nvSpPr>
        <p:spPr>
          <a:xfrm>
            <a:off x="548640" y="6400800"/>
            <a:ext cx="8229600" cy="274320"/>
          </a:xfrm>
          <a:prstGeom prst="rect">
            <a:avLst/>
          </a:prstGeom>
          <a:noFill/>
          <a:ln/>
        </p:spPr>
        <p:txBody>
          <a:bodyPr wrap="square" rtlCol="0" anchor="ctr"/>
          <a:lstStyle/>
          <a:p>
            <a:pPr marL="0" indent="0">
              <a:buNone/>
            </a:pPr>
            <a:r>
              <a:rPr lang="en-US" sz="1000" dirty="0">
                <a:solidFill>
                  <a:srgbClr val="626B7F"/>
                </a:solidFill>
                <a:latin typeface="Times New Roman" pitchFamily="34" charset="0"/>
                <a:ea typeface="Times New Roman" pitchFamily="34" charset="-122"/>
                <a:cs typeface="Times New Roman" pitchFamily="34" charset="-120"/>
              </a:rPr>
              <a:t>Who Carries the Cartel?  ·  AI Collusion Research Sprint 2026  ·  Track 1 (Q1.2)</a:t>
            </a:r>
            <a:endParaRPr lang="en-US" sz="1000" dirty="0"/>
          </a:p>
        </p:txBody>
      </p:sp>
      <p:sp>
        <p:nvSpPr>
          <p:cNvPr id="5" name="Text 3"/>
          <p:cNvSpPr>
            <a:spLocks noGrp="1"/>
          </p:cNvSpPr>
          <p:nvPr>
            <p:ph type="title" idx="103" hasCustomPrompt="1"/>
          </p:nvPr>
        </p:nvSpPr>
        <p:spPr>
          <a:xfrm>
            <a:off x="548640" y="320040"/>
            <a:ext cx="11064240" cy="822960"/>
          </a:xfrm>
          <a:prstGeom prst="rect">
            <a:avLst/>
          </a:prstGeom>
          <a:noFill/>
          <a:ln/>
        </p:spPr>
        <p:txBody>
          <a:bodyPr wrap="square" rtlCol="0"/>
          <a:lstStyle>
            <a:lvl1pPr marL="0" indent="0" algn="l">
              <a:buNone/>
              <a:defRPr lang="en-US" sz="3000" b="1" dirty="0">
                <a:solidFill>
                  <a:srgbClr val="1E2A44"/>
                </a:solidFill>
                <a:latin typeface="Times New Roman" pitchFamily="34" charset="0"/>
                <a:ea typeface="Times New Roman" pitchFamily="34" charset="-122"/>
                <a:cs typeface="Times New Roman"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6F1E8"/>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6F8B"/>
          </a:solidFill>
          <a:ln/>
        </p:spPr>
      </p:sp>
      <p:sp>
        <p:nvSpPr>
          <p:cNvPr id="3" name="Shape 1"/>
          <p:cNvSpPr/>
          <p:nvPr/>
        </p:nvSpPr>
        <p:spPr>
          <a:xfrm>
            <a:off x="256032" y="0"/>
            <a:ext cx="73152" cy="6858000"/>
          </a:xfrm>
          <a:prstGeom prst="rect">
            <a:avLst/>
          </a:prstGeom>
          <a:solidFill>
            <a:srgbClr val="C8553D"/>
          </a:solidFill>
          <a:ln/>
        </p:spPr>
      </p:sp>
      <p:sp>
        <p:nvSpPr>
          <p:cNvPr id="4" name="Text 2"/>
          <p:cNvSpPr>
            <a:spLocks noGrp="1"/>
          </p:cNvSpPr>
          <p:nvPr>
            <p:ph type="title" idx="102" hasCustomPrompt="1"/>
          </p:nvPr>
        </p:nvSpPr>
        <p:spPr>
          <a:xfrm>
            <a:off x="548640" y="320040"/>
            <a:ext cx="11064240" cy="822960"/>
          </a:xfrm>
          <a:prstGeom prst="rect">
            <a:avLst/>
          </a:prstGeom>
          <a:noFill/>
          <a:ln/>
        </p:spPr>
        <p:txBody>
          <a:bodyPr wrap="square" rtlCol="0"/>
          <a:lstStyle>
            <a:lvl1pPr marL="0" indent="0" algn="l">
              <a:buNone/>
              <a:defRPr lang="en-US" sz="3000" b="1" dirty="0">
                <a:solidFill>
                  <a:srgbClr val="1E2A44"/>
                </a:solidFill>
                <a:latin typeface="Times New Roman" pitchFamily="34" charset="0"/>
                <a:ea typeface="Times New Roman" pitchFamily="34" charset="-122"/>
                <a:cs typeface="Times New Roman"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upratikB23/LLM-Cartel-Succession"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10972800" cy="365760"/>
          </a:xfrm>
          <a:prstGeom prst="rect">
            <a:avLst/>
          </a:prstGeom>
          <a:noFill/>
          <a:ln/>
        </p:spPr>
        <p:txBody>
          <a:bodyPr wrap="square" lIns="0" tIns="0" rIns="0" bIns="0" rtlCol="0" anchor="t"/>
          <a:lstStyle/>
          <a:p>
            <a:pPr marL="0" indent="0">
              <a:buNone/>
            </a:pPr>
            <a:r>
              <a:rPr lang="en-US" sz="1300" b="1" dirty="0">
                <a:solidFill>
                  <a:srgbClr val="626B7F"/>
                </a:solidFill>
                <a:latin typeface="Times New Roman" pitchFamily="34" charset="0"/>
                <a:ea typeface="Times New Roman" pitchFamily="34" charset="-122"/>
                <a:cs typeface="Times New Roman" pitchFamily="34" charset="-120"/>
              </a:rPr>
              <a:t>AI COLLUSION RESEARCH SPRINT 2026  ·  TRACK 1: MARKETS AND COLLUSION  ·  QUESTION 1.2</a:t>
            </a:r>
            <a:endParaRPr lang="en-US" sz="1300" dirty="0"/>
          </a:p>
        </p:txBody>
      </p:sp>
      <p:sp>
        <p:nvSpPr>
          <p:cNvPr id="3" name="Text 1"/>
          <p:cNvSpPr txBox="1"/>
          <p:nvPr/>
        </p:nvSpPr>
        <p:spPr>
          <a:xfrm>
            <a:off x="548640" y="1371600"/>
            <a:ext cx="10972800" cy="1097280"/>
          </a:xfrm>
          <a:prstGeom prst="rect">
            <a:avLst/>
          </a:prstGeom>
          <a:noFill/>
          <a:ln/>
        </p:spPr>
        <p:txBody>
          <a:bodyPr wrap="square" lIns="0" tIns="0" rIns="0" bIns="0" rtlCol="0" anchor="t"/>
          <a:lstStyle/>
          <a:p>
            <a:pPr marL="0" indent="0">
              <a:buNone/>
            </a:pPr>
            <a:r>
              <a:rPr lang="en-US" sz="5400" b="1" dirty="0">
                <a:solidFill>
                  <a:srgbClr val="1E2A44"/>
                </a:solidFill>
                <a:latin typeface="Times New Roman" pitchFamily="34" charset="0"/>
                <a:ea typeface="Times New Roman" pitchFamily="34" charset="-122"/>
                <a:cs typeface="Times New Roman" pitchFamily="34" charset="-120"/>
              </a:rPr>
              <a:t>Who Carries the Cartel?</a:t>
            </a:r>
            <a:endParaRPr lang="en-US" sz="5400" dirty="0"/>
          </a:p>
        </p:txBody>
      </p:sp>
      <p:sp>
        <p:nvSpPr>
          <p:cNvPr id="4" name="Text 2"/>
          <p:cNvSpPr txBox="1"/>
          <p:nvPr/>
        </p:nvSpPr>
        <p:spPr>
          <a:xfrm>
            <a:off x="548640" y="2514600"/>
            <a:ext cx="10058400" cy="822960"/>
          </a:xfrm>
          <a:prstGeom prst="rect">
            <a:avLst/>
          </a:prstGeom>
          <a:noFill/>
          <a:ln/>
        </p:spPr>
        <p:txBody>
          <a:bodyPr wrap="square" lIns="0" tIns="0" rIns="0" bIns="0" rtlCol="0" anchor="t"/>
          <a:lstStyle/>
          <a:p>
            <a:pPr marL="0" indent="0">
              <a:buNone/>
            </a:pPr>
            <a:r>
              <a:rPr lang="en-US" sz="2400" dirty="0">
                <a:solidFill>
                  <a:srgbClr val="626B7F"/>
                </a:solidFill>
                <a:latin typeface="Times New Roman" pitchFamily="34" charset="0"/>
                <a:ea typeface="Times New Roman" pitchFamily="34" charset="-122"/>
                <a:cs typeface="Times New Roman" pitchFamily="34" charset="-120"/>
              </a:rPr>
              <a:t>LLM price collusion survives agent replacement through inherited price history</a:t>
            </a:r>
            <a:endParaRPr lang="en-US" sz="2400" dirty="0"/>
          </a:p>
        </p:txBody>
      </p:sp>
      <p:sp>
        <p:nvSpPr>
          <p:cNvPr id="5" name="Text 3"/>
          <p:cNvSpPr txBox="1"/>
          <p:nvPr/>
        </p:nvSpPr>
        <p:spPr>
          <a:xfrm>
            <a:off x="548640" y="3931920"/>
            <a:ext cx="3474720" cy="731520"/>
          </a:xfrm>
          <a:prstGeom prst="rect">
            <a:avLst/>
          </a:prstGeom>
          <a:noFill/>
          <a:ln/>
        </p:spPr>
        <p:txBody>
          <a:bodyPr wrap="square" lIns="0" tIns="0" rIns="0" bIns="0" rtlCol="0" anchor="t"/>
          <a:lstStyle/>
          <a:p>
            <a:pPr marL="0" indent="0">
              <a:buNone/>
            </a:pPr>
            <a:r>
              <a:rPr lang="en-US" sz="3600" b="1" dirty="0">
                <a:solidFill>
                  <a:srgbClr val="1F6F8B"/>
                </a:solidFill>
                <a:latin typeface="Times New Roman" pitchFamily="34" charset="0"/>
                <a:ea typeface="Times New Roman" pitchFamily="34" charset="-122"/>
                <a:cs typeface="Times New Roman" pitchFamily="34" charset="-120"/>
              </a:rPr>
              <a:t>6 of 6</a:t>
            </a:r>
            <a:endParaRPr lang="en-US" sz="3600" dirty="0"/>
          </a:p>
        </p:txBody>
      </p:sp>
      <p:sp>
        <p:nvSpPr>
          <p:cNvPr id="6" name="Text 4"/>
          <p:cNvSpPr txBox="1"/>
          <p:nvPr/>
        </p:nvSpPr>
        <p:spPr>
          <a:xfrm>
            <a:off x="548640" y="4663440"/>
            <a:ext cx="3291840" cy="822960"/>
          </a:xfrm>
          <a:prstGeom prst="rect">
            <a:avLst/>
          </a:prstGeom>
          <a:noFill/>
          <a:ln/>
        </p:spPr>
        <p:txBody>
          <a:bodyPr wrap="square" lIns="0" tIns="0" rIns="0" bIns="0" rtlCol="0" anchor="t"/>
          <a:lstStyle/>
          <a:p>
            <a:pPr marL="0" indent="0">
              <a:buNone/>
            </a:pPr>
            <a:r>
              <a:rPr lang="en-US" sz="1500" dirty="0">
                <a:solidFill>
                  <a:srgbClr val="1E2A44"/>
                </a:solidFill>
                <a:latin typeface="Times New Roman" pitchFamily="34" charset="0"/>
                <a:ea typeface="Times New Roman" pitchFamily="34" charset="-122"/>
                <a:cs typeface="Times New Roman" pitchFamily="34" charset="-120"/>
              </a:rPr>
              <a:t>runs: the same model with the old price history keeps the cartel</a:t>
            </a:r>
            <a:endParaRPr lang="en-US" sz="1500" dirty="0"/>
          </a:p>
        </p:txBody>
      </p:sp>
      <p:sp>
        <p:nvSpPr>
          <p:cNvPr id="7" name="Text 5"/>
          <p:cNvSpPr txBox="1"/>
          <p:nvPr/>
        </p:nvSpPr>
        <p:spPr>
          <a:xfrm>
            <a:off x="4297680" y="3931920"/>
            <a:ext cx="3474720" cy="731520"/>
          </a:xfrm>
          <a:prstGeom prst="rect">
            <a:avLst/>
          </a:prstGeom>
          <a:noFill/>
          <a:ln/>
        </p:spPr>
        <p:txBody>
          <a:bodyPr wrap="square" lIns="0" tIns="0" rIns="0" bIns="0" rtlCol="0" anchor="t"/>
          <a:lstStyle/>
          <a:p>
            <a:pPr marL="0" indent="0">
              <a:buNone/>
            </a:pPr>
            <a:r>
              <a:rPr lang="en-US" sz="3600" b="1" dirty="0">
                <a:solidFill>
                  <a:srgbClr val="1F6F8B"/>
                </a:solidFill>
                <a:latin typeface="Times New Roman" pitchFamily="34" charset="0"/>
                <a:ea typeface="Times New Roman" pitchFamily="34" charset="-122"/>
                <a:cs typeface="Times New Roman" pitchFamily="34" charset="-120"/>
              </a:rPr>
              <a:t>0.47–0.67</a:t>
            </a:r>
            <a:endParaRPr lang="en-US" sz="3600" dirty="0"/>
          </a:p>
        </p:txBody>
      </p:sp>
      <p:sp>
        <p:nvSpPr>
          <p:cNvPr id="8" name="Text 6"/>
          <p:cNvSpPr txBox="1"/>
          <p:nvPr/>
        </p:nvSpPr>
        <p:spPr>
          <a:xfrm>
            <a:off x="4297680" y="4663440"/>
            <a:ext cx="3291840" cy="822960"/>
          </a:xfrm>
          <a:prstGeom prst="rect">
            <a:avLst/>
          </a:prstGeom>
          <a:noFill/>
          <a:ln/>
        </p:spPr>
        <p:txBody>
          <a:bodyPr wrap="square" lIns="0" tIns="0" rIns="0" bIns="0" rtlCol="0" anchor="t"/>
          <a:lstStyle/>
          <a:p>
            <a:pPr marL="0" indent="0">
              <a:buNone/>
            </a:pPr>
            <a:r>
              <a:rPr lang="en-US" sz="1500" dirty="0">
                <a:solidFill>
                  <a:srgbClr val="1E2A44"/>
                </a:solidFill>
                <a:latin typeface="Times New Roman" pitchFamily="34" charset="0"/>
                <a:ea typeface="Times New Roman" pitchFamily="34" charset="-122"/>
                <a:cs typeface="Times New Roman" pitchFamily="34" charset="-120"/>
              </a:rPr>
              <a:t>profit-index loss without the history, by overpricing</a:t>
            </a:r>
            <a:endParaRPr lang="en-US" sz="1500" dirty="0"/>
          </a:p>
        </p:txBody>
      </p:sp>
      <p:sp>
        <p:nvSpPr>
          <p:cNvPr id="9" name="Text 7"/>
          <p:cNvSpPr txBox="1"/>
          <p:nvPr/>
        </p:nvSpPr>
        <p:spPr>
          <a:xfrm>
            <a:off x="8046720" y="3931920"/>
            <a:ext cx="3474720" cy="731520"/>
          </a:xfrm>
          <a:prstGeom prst="rect">
            <a:avLst/>
          </a:prstGeom>
          <a:noFill/>
          <a:ln/>
        </p:spPr>
        <p:txBody>
          <a:bodyPr wrap="square" lIns="0" tIns="0" rIns="0" bIns="0" rtlCol="0" anchor="t"/>
          <a:lstStyle/>
          <a:p>
            <a:pPr marL="0" indent="0">
              <a:buNone/>
            </a:pPr>
            <a:r>
              <a:rPr lang="en-US" sz="3600" b="1" dirty="0">
                <a:solidFill>
                  <a:srgbClr val="1F6F8B"/>
                </a:solidFill>
                <a:latin typeface="Times New Roman" pitchFamily="34" charset="0"/>
                <a:ea typeface="Times New Roman" pitchFamily="34" charset="-122"/>
                <a:cs typeface="Times New Roman" pitchFamily="34" charset="-120"/>
              </a:rPr>
              <a:t>96%</a:t>
            </a:r>
            <a:endParaRPr lang="en-US" sz="3600" dirty="0"/>
          </a:p>
        </p:txBody>
      </p:sp>
      <p:sp>
        <p:nvSpPr>
          <p:cNvPr id="10" name="Text 8"/>
          <p:cNvSpPr txBox="1"/>
          <p:nvPr/>
        </p:nvSpPr>
        <p:spPr>
          <a:xfrm>
            <a:off x="8046720" y="4663440"/>
            <a:ext cx="3291840" cy="822960"/>
          </a:xfrm>
          <a:prstGeom prst="rect">
            <a:avLst/>
          </a:prstGeom>
          <a:noFill/>
          <a:ln/>
        </p:spPr>
        <p:txBody>
          <a:bodyPr wrap="square" lIns="0" tIns="0" rIns="0" bIns="0" rtlCol="0" anchor="t"/>
          <a:lstStyle/>
          <a:p>
            <a:pPr marL="0" indent="0">
              <a:buNone/>
            </a:pPr>
            <a:r>
              <a:rPr lang="en-US" sz="1500" dirty="0">
                <a:solidFill>
                  <a:srgbClr val="1E2A44"/>
                </a:solidFill>
                <a:latin typeface="Times New Roman" pitchFamily="34" charset="0"/>
                <a:ea typeface="Times New Roman" pitchFamily="34" charset="-122"/>
                <a:cs typeface="Times New Roman" pitchFamily="34" charset="-120"/>
              </a:rPr>
              <a:t>of rounds the OLMo-2 entrant repeats its last price</a:t>
            </a:r>
            <a:endParaRPr lang="en-US" sz="1500" dirty="0"/>
          </a:p>
        </p:txBody>
      </p:sp>
      <p:sp>
        <p:nvSpPr>
          <p:cNvPr id="11" name="Text 9"/>
          <p:cNvSpPr txBox="1"/>
          <p:nvPr/>
        </p:nvSpPr>
        <p:spPr>
          <a:xfrm>
            <a:off x="548640" y="6035040"/>
            <a:ext cx="8229600" cy="365760"/>
          </a:xfrm>
          <a:prstGeom prst="rect">
            <a:avLst/>
          </a:prstGeom>
          <a:noFill/>
          <a:ln/>
        </p:spPr>
        <p:txBody>
          <a:bodyPr wrap="square" lIns="0" tIns="0" rIns="0" bIns="0" rtlCol="0" anchor="t"/>
          <a:lstStyle/>
          <a:p>
            <a:pPr marL="0" indent="0">
              <a:buNone/>
            </a:pPr>
            <a:r>
              <a:rPr lang="en-US" sz="1500" dirty="0">
                <a:solidFill>
                  <a:srgbClr val="626B7F"/>
                </a:solidFill>
                <a:latin typeface="Times New Roman" pitchFamily="34" charset="0"/>
                <a:ea typeface="Times New Roman" pitchFamily="34" charset="-122"/>
                <a:cs typeface="Times New Roman" pitchFamily="34" charset="-120"/>
              </a:rPr>
              <a:t>Supratik Bhowal  ·  Apart Research</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If a firm replaces its AI pricing agent, does collusion end?</a:t>
            </a:r>
            <a:endParaRPr lang="en-US" sz="3000" dirty="0"/>
          </a:p>
        </p:txBody>
      </p:sp>
      <p:sp>
        <p:nvSpPr>
          <p:cNvPr id="3" name="Text 1"/>
          <p:cNvSpPr txBox="1"/>
          <p:nvPr/>
        </p:nvSpPr>
        <p:spPr>
          <a:xfrm>
            <a:off x="548640" y="1463040"/>
            <a:ext cx="5120640" cy="4114800"/>
          </a:xfrm>
          <a:prstGeom prst="rect">
            <a:avLst/>
          </a:prstGeom>
          <a:noFill/>
          <a:ln/>
        </p:spPr>
        <p:txBody>
          <a:bodyPr wrap="square" lIns="0" tIns="0" rIns="0" bIns="0" rtlCol="0" anchor="t"/>
          <a:lstStyle/>
          <a:p>
            <a:pPr marL="0" indent="0">
              <a:buNone/>
            </a:pPr>
            <a:r>
              <a:rPr lang="en-US" sz="1800" dirty="0">
                <a:solidFill>
                  <a:srgbClr val="2F3B55"/>
                </a:solidFill>
                <a:latin typeface="Times New Roman" pitchFamily="34" charset="0"/>
                <a:ea typeface="Times New Roman" pitchFamily="34" charset="-122"/>
                <a:cs typeface="Times New Roman" pitchFamily="34" charset="-120"/>
              </a:rPr>
              <a:t>AI agents that set prices can reach near-monopoly prices without talking to each other and without an instruction to collude.</a:t>
            </a:r>
            <a:endParaRPr lang="en-US" sz="1800" dirty="0"/>
          </a:p>
          <a:p>
            <a:pPr marL="0" indent="0">
              <a:buNone/>
            </a:pPr>
            <a:r>
              <a:rPr lang="en-US" sz="800" dirty="0">
                <a:solidFill>
                  <a:srgbClr val="2F3B55"/>
                </a:solidFill>
                <a:latin typeface="Times New Roman" pitchFamily="34" charset="0"/>
                <a:ea typeface="Times New Roman" pitchFamily="34" charset="-122"/>
                <a:cs typeface="Times New Roman" pitchFamily="34" charset="-120"/>
              </a:rPr>
              <a:t> </a:t>
            </a:r>
            <a:endParaRPr lang="en-US" sz="1800" dirty="0"/>
          </a:p>
          <a:p>
            <a:pPr marL="0" indent="0">
              <a:buNone/>
            </a:pPr>
            <a:r>
              <a:rPr lang="en-US" sz="1800" dirty="0">
                <a:solidFill>
                  <a:srgbClr val="2F3B55"/>
                </a:solidFill>
                <a:latin typeface="Times New Roman" pitchFamily="34" charset="0"/>
                <a:ea typeface="Times New Roman" pitchFamily="34" charset="-122"/>
                <a:cs typeface="Times New Roman" pitchFamily="34" charset="-120"/>
              </a:rPr>
              <a:t>Replacing one agent is a natural remedy, and it also happens every time a firm changes its software vendor or model version.</a:t>
            </a:r>
            <a:endParaRPr lang="en-US" sz="1800" dirty="0"/>
          </a:p>
          <a:p>
            <a:pPr marL="0" indent="0">
              <a:buNone/>
            </a:pPr>
            <a:r>
              <a:rPr lang="en-US" sz="800" dirty="0">
                <a:solidFill>
                  <a:srgbClr val="2F3B55"/>
                </a:solidFill>
                <a:latin typeface="Times New Roman" pitchFamily="34" charset="0"/>
                <a:ea typeface="Times New Roman" pitchFamily="34" charset="-122"/>
                <a:cs typeface="Times New Roman" pitchFamily="34" charset="-120"/>
              </a:rPr>
              <a:t> </a:t>
            </a:r>
            <a:endParaRPr lang="en-US" sz="1800" dirty="0"/>
          </a:p>
          <a:p>
            <a:pPr marL="0" indent="0">
              <a:buNone/>
            </a:pPr>
            <a:r>
              <a:rPr lang="en-US" sz="1800" dirty="0">
                <a:solidFill>
                  <a:srgbClr val="2F3B55"/>
                </a:solidFill>
                <a:latin typeface="Times New Roman" pitchFamily="34" charset="0"/>
                <a:ea typeface="Times New Roman" pitchFamily="34" charset="-122"/>
                <a:cs typeface="Times New Roman" pitchFamily="34" charset="-120"/>
              </a:rPr>
              <a:t>A prompted LLM agent has no memory outside its prompt. So the cartel must be carried by one of three things.</a:t>
            </a:r>
            <a:endParaRPr lang="en-US" sz="1800" dirty="0"/>
          </a:p>
        </p:txBody>
      </p:sp>
      <p:sp>
        <p:nvSpPr>
          <p:cNvPr id="4" name="Shape 2"/>
          <p:cNvSpPr/>
          <p:nvPr/>
        </p:nvSpPr>
        <p:spPr>
          <a:xfrm>
            <a:off x="6217920" y="1463040"/>
            <a:ext cx="5394960" cy="1234440"/>
          </a:xfrm>
          <a:prstGeom prst="roundRect">
            <a:avLst>
              <a:gd name="adj" fmla="val 10370"/>
            </a:avLst>
          </a:prstGeom>
          <a:solidFill>
            <a:srgbClr val="DCEBF0"/>
          </a:solidFill>
          <a:ln w="12700">
            <a:solidFill>
              <a:srgbClr val="E7DCCB"/>
            </a:solidFill>
            <a:prstDash val="solid"/>
          </a:ln>
          <a:effectLst>
            <a:outerShdw blurRad="76200" dist="25400" dir="5400000" algn="bl" rotWithShape="0">
              <a:srgbClr val="BFB3A0">
                <a:alpha val="25000"/>
              </a:srgbClr>
            </a:outerShdw>
          </a:effectLst>
        </p:spPr>
      </p:sp>
      <p:sp>
        <p:nvSpPr>
          <p:cNvPr id="5" name="Shape 3"/>
          <p:cNvSpPr/>
          <p:nvPr/>
        </p:nvSpPr>
        <p:spPr>
          <a:xfrm>
            <a:off x="6446520" y="1828800"/>
            <a:ext cx="502920" cy="502920"/>
          </a:xfrm>
          <a:prstGeom prst="ellipse">
            <a:avLst/>
          </a:prstGeom>
          <a:solidFill>
            <a:srgbClr val="1F6F8B"/>
          </a:solidFill>
          <a:ln w="12700">
            <a:solidFill>
              <a:srgbClr val="1F6F8B"/>
            </a:solidFill>
            <a:prstDash val="solid"/>
          </a:ln>
        </p:spPr>
      </p:sp>
      <p:sp>
        <p:nvSpPr>
          <p:cNvPr id="6" name="Text 4"/>
          <p:cNvSpPr txBox="1"/>
          <p:nvPr/>
        </p:nvSpPr>
        <p:spPr>
          <a:xfrm>
            <a:off x="6446520" y="1828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7" name="Text 5"/>
          <p:cNvSpPr txBox="1"/>
          <p:nvPr/>
        </p:nvSpPr>
        <p:spPr>
          <a:xfrm>
            <a:off x="7178040" y="1664208"/>
            <a:ext cx="4206240" cy="411480"/>
          </a:xfrm>
          <a:prstGeom prst="rect">
            <a:avLst/>
          </a:prstGeom>
          <a:noFill/>
          <a:ln/>
        </p:spPr>
        <p:txBody>
          <a:bodyPr wrap="square" lIns="0" tIns="0" rIns="0" bIns="0" rtlCol="0" anchor="t"/>
          <a:lstStyle/>
          <a:p>
            <a:pPr marL="0" indent="0">
              <a:buNone/>
            </a:pPr>
            <a:r>
              <a:rPr lang="en-US" sz="2000" b="1" dirty="0">
                <a:solidFill>
                  <a:srgbClr val="1E2A44"/>
                </a:solidFill>
                <a:latin typeface="Times New Roman" pitchFamily="34" charset="0"/>
                <a:ea typeface="Times New Roman" pitchFamily="34" charset="-122"/>
                <a:cs typeface="Times New Roman" pitchFamily="34" charset="-120"/>
              </a:rPr>
              <a:t>The model</a:t>
            </a:r>
            <a:endParaRPr lang="en-US" sz="2000" dirty="0"/>
          </a:p>
        </p:txBody>
      </p:sp>
      <p:sp>
        <p:nvSpPr>
          <p:cNvPr id="8" name="Text 6"/>
          <p:cNvSpPr txBox="1"/>
          <p:nvPr/>
        </p:nvSpPr>
        <p:spPr>
          <a:xfrm>
            <a:off x="7178040" y="2103120"/>
            <a:ext cx="4206240" cy="457200"/>
          </a:xfrm>
          <a:prstGeom prst="rect">
            <a:avLst/>
          </a:prstGeom>
          <a:noFill/>
          <a:ln/>
        </p:spPr>
        <p:txBody>
          <a:bodyPr wrap="square" lIns="0" tIns="0" rIns="0" bIns="0" rtlCol="0" anchor="t"/>
          <a:lstStyle/>
          <a:p>
            <a:pPr marL="0" indent="0">
              <a:buNone/>
            </a:pPr>
            <a:r>
              <a:rPr lang="en-US" sz="1500" dirty="0">
                <a:solidFill>
                  <a:srgbClr val="626B7F"/>
                </a:solidFill>
                <a:latin typeface="Times New Roman" pitchFamily="34" charset="0"/>
                <a:ea typeface="Times New Roman" pitchFamily="34" charset="-122"/>
                <a:cs typeface="Times New Roman" pitchFamily="34" charset="-120"/>
              </a:rPr>
              <a:t>the AI system itself (its weights)</a:t>
            </a:r>
            <a:endParaRPr lang="en-US" sz="1500" dirty="0"/>
          </a:p>
        </p:txBody>
      </p:sp>
      <p:sp>
        <p:nvSpPr>
          <p:cNvPr id="9" name="Shape 7"/>
          <p:cNvSpPr/>
          <p:nvPr/>
        </p:nvSpPr>
        <p:spPr>
          <a:xfrm>
            <a:off x="6217920" y="2926080"/>
            <a:ext cx="5394960" cy="1234440"/>
          </a:xfrm>
          <a:prstGeom prst="roundRect">
            <a:avLst>
              <a:gd name="adj" fmla="val 10370"/>
            </a:avLst>
          </a:prstGeom>
          <a:solidFill>
            <a:srgbClr val="F8E1D7"/>
          </a:solidFill>
          <a:ln w="12700">
            <a:solidFill>
              <a:srgbClr val="E7DCCB"/>
            </a:solidFill>
            <a:prstDash val="solid"/>
          </a:ln>
          <a:effectLst>
            <a:outerShdw blurRad="76200" dist="25400" dir="5400000" algn="bl" rotWithShape="0">
              <a:srgbClr val="BFB3A0">
                <a:alpha val="25000"/>
              </a:srgbClr>
            </a:outerShdw>
          </a:effectLst>
        </p:spPr>
      </p:sp>
      <p:sp>
        <p:nvSpPr>
          <p:cNvPr id="10" name="Shape 8"/>
          <p:cNvSpPr/>
          <p:nvPr/>
        </p:nvSpPr>
        <p:spPr>
          <a:xfrm>
            <a:off x="6446520" y="3291840"/>
            <a:ext cx="502920" cy="502920"/>
          </a:xfrm>
          <a:prstGeom prst="ellipse">
            <a:avLst/>
          </a:prstGeom>
          <a:solidFill>
            <a:srgbClr val="C8553D"/>
          </a:solidFill>
          <a:ln w="12700">
            <a:solidFill>
              <a:srgbClr val="C8553D"/>
            </a:solidFill>
            <a:prstDash val="solid"/>
          </a:ln>
        </p:spPr>
      </p:sp>
      <p:sp>
        <p:nvSpPr>
          <p:cNvPr id="11" name="Text 9"/>
          <p:cNvSpPr txBox="1"/>
          <p:nvPr/>
        </p:nvSpPr>
        <p:spPr>
          <a:xfrm>
            <a:off x="6446520" y="3291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2" name="Text 10"/>
          <p:cNvSpPr txBox="1"/>
          <p:nvPr/>
        </p:nvSpPr>
        <p:spPr>
          <a:xfrm>
            <a:off x="7178040" y="3127248"/>
            <a:ext cx="4206240" cy="411480"/>
          </a:xfrm>
          <a:prstGeom prst="rect">
            <a:avLst/>
          </a:prstGeom>
          <a:noFill/>
          <a:ln/>
        </p:spPr>
        <p:txBody>
          <a:bodyPr wrap="square" lIns="0" tIns="0" rIns="0" bIns="0" rtlCol="0" anchor="t"/>
          <a:lstStyle/>
          <a:p>
            <a:pPr marL="0" indent="0">
              <a:buNone/>
            </a:pPr>
            <a:r>
              <a:rPr lang="en-US" sz="2000" b="1" dirty="0">
                <a:solidFill>
                  <a:srgbClr val="1E2A44"/>
                </a:solidFill>
                <a:latin typeface="Times New Roman" pitchFamily="34" charset="0"/>
                <a:ea typeface="Times New Roman" pitchFamily="34" charset="-122"/>
                <a:cs typeface="Times New Roman" pitchFamily="34" charset="-120"/>
              </a:rPr>
              <a:t>The price history</a:t>
            </a:r>
            <a:endParaRPr lang="en-US" sz="2000" dirty="0"/>
          </a:p>
        </p:txBody>
      </p:sp>
      <p:sp>
        <p:nvSpPr>
          <p:cNvPr id="13" name="Text 11"/>
          <p:cNvSpPr txBox="1"/>
          <p:nvPr/>
        </p:nvSpPr>
        <p:spPr>
          <a:xfrm>
            <a:off x="7178040" y="3566160"/>
            <a:ext cx="4206240" cy="457200"/>
          </a:xfrm>
          <a:prstGeom prst="rect">
            <a:avLst/>
          </a:prstGeom>
          <a:noFill/>
          <a:ln/>
        </p:spPr>
        <p:txBody>
          <a:bodyPr wrap="square" lIns="0" tIns="0" rIns="0" bIns="0" rtlCol="0" anchor="t"/>
          <a:lstStyle/>
          <a:p>
            <a:pPr marL="0" indent="0">
              <a:buNone/>
            </a:pPr>
            <a:r>
              <a:rPr lang="en-US" sz="1500" dirty="0">
                <a:solidFill>
                  <a:srgbClr val="626B7F"/>
                </a:solidFill>
                <a:latin typeface="Times New Roman" pitchFamily="34" charset="0"/>
                <a:ea typeface="Times New Roman" pitchFamily="34" charset="-122"/>
                <a:cs typeface="Times New Roman" pitchFamily="34" charset="-120"/>
              </a:rPr>
              <a:t>the last 30 rounds of prices that the new agent reads</a:t>
            </a:r>
            <a:endParaRPr lang="en-US" sz="1500" dirty="0"/>
          </a:p>
        </p:txBody>
      </p:sp>
      <p:sp>
        <p:nvSpPr>
          <p:cNvPr id="14" name="Shape 12"/>
          <p:cNvSpPr/>
          <p:nvPr/>
        </p:nvSpPr>
        <p:spPr>
          <a:xfrm>
            <a:off x="6217920" y="4389120"/>
            <a:ext cx="5394960" cy="1234440"/>
          </a:xfrm>
          <a:prstGeom prst="roundRect">
            <a:avLst>
              <a:gd name="adj" fmla="val 10370"/>
            </a:avLst>
          </a:prstGeom>
          <a:solidFill>
            <a:srgbClr val="E4EEDF"/>
          </a:solidFill>
          <a:ln w="12700">
            <a:solidFill>
              <a:srgbClr val="E7DCCB"/>
            </a:solidFill>
            <a:prstDash val="solid"/>
          </a:ln>
          <a:effectLst>
            <a:outerShdw blurRad="76200" dist="25400" dir="5400000" algn="bl" rotWithShape="0">
              <a:srgbClr val="BFB3A0">
                <a:alpha val="25000"/>
              </a:srgbClr>
            </a:outerShdw>
          </a:effectLst>
        </p:spPr>
      </p:sp>
      <p:sp>
        <p:nvSpPr>
          <p:cNvPr id="15" name="Shape 13"/>
          <p:cNvSpPr/>
          <p:nvPr/>
        </p:nvSpPr>
        <p:spPr>
          <a:xfrm>
            <a:off x="6446520" y="4754880"/>
            <a:ext cx="502920" cy="502920"/>
          </a:xfrm>
          <a:prstGeom prst="ellipse">
            <a:avLst/>
          </a:prstGeom>
          <a:solidFill>
            <a:srgbClr val="5E8C61"/>
          </a:solidFill>
          <a:ln w="12700">
            <a:solidFill>
              <a:srgbClr val="5E8C61"/>
            </a:solidFill>
            <a:prstDash val="solid"/>
          </a:ln>
        </p:spPr>
      </p:sp>
      <p:sp>
        <p:nvSpPr>
          <p:cNvPr id="16" name="Text 14"/>
          <p:cNvSpPr txBox="1"/>
          <p:nvPr/>
        </p:nvSpPr>
        <p:spPr>
          <a:xfrm>
            <a:off x="6446520" y="4754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17" name="Text 15"/>
          <p:cNvSpPr txBox="1"/>
          <p:nvPr/>
        </p:nvSpPr>
        <p:spPr>
          <a:xfrm>
            <a:off x="7178040" y="4590288"/>
            <a:ext cx="4206240" cy="411480"/>
          </a:xfrm>
          <a:prstGeom prst="rect">
            <a:avLst/>
          </a:prstGeom>
          <a:noFill/>
          <a:ln/>
        </p:spPr>
        <p:txBody>
          <a:bodyPr wrap="square" lIns="0" tIns="0" rIns="0" bIns="0" rtlCol="0" anchor="t"/>
          <a:lstStyle/>
          <a:p>
            <a:pPr marL="0" indent="0">
              <a:buNone/>
            </a:pPr>
            <a:r>
              <a:rPr lang="en-US" sz="2000" b="1" dirty="0">
                <a:solidFill>
                  <a:srgbClr val="1E2A44"/>
                </a:solidFill>
                <a:latin typeface="Times New Roman" pitchFamily="34" charset="0"/>
                <a:ea typeface="Times New Roman" pitchFamily="34" charset="-122"/>
                <a:cs typeface="Times New Roman" pitchFamily="34" charset="-120"/>
              </a:rPr>
              <a:t>The notes</a:t>
            </a:r>
            <a:endParaRPr lang="en-US" sz="2000" dirty="0"/>
          </a:p>
        </p:txBody>
      </p:sp>
      <p:sp>
        <p:nvSpPr>
          <p:cNvPr id="18" name="Text 16"/>
          <p:cNvSpPr txBox="1"/>
          <p:nvPr/>
        </p:nvSpPr>
        <p:spPr>
          <a:xfrm>
            <a:off x="7178040" y="5029200"/>
            <a:ext cx="4206240" cy="457200"/>
          </a:xfrm>
          <a:prstGeom prst="rect">
            <a:avLst/>
          </a:prstGeom>
          <a:noFill/>
          <a:ln/>
        </p:spPr>
        <p:txBody>
          <a:bodyPr wrap="square" lIns="0" tIns="0" rIns="0" bIns="0" rtlCol="0" anchor="t"/>
          <a:lstStyle/>
          <a:p>
            <a:pPr marL="0" indent="0">
              <a:buNone/>
            </a:pPr>
            <a:r>
              <a:rPr lang="en-US" sz="1500" dirty="0">
                <a:solidFill>
                  <a:srgbClr val="626B7F"/>
                </a:solidFill>
                <a:latin typeface="Times New Roman" pitchFamily="34" charset="0"/>
                <a:ea typeface="Times New Roman" pitchFamily="34" charset="-122"/>
                <a:cs typeface="Times New Roman" pitchFamily="34" charset="-120"/>
              </a:rPr>
              <a:t>what the old agent wrote to itself each round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A simulated two-firm market with LLM pricing agents</a:t>
            </a:r>
            <a:endParaRPr lang="en-US" sz="3000" dirty="0"/>
          </a:p>
        </p:txBody>
      </p:sp>
      <p:sp>
        <p:nvSpPr>
          <p:cNvPr id="3" name="Text 1"/>
          <p:cNvSpPr txBox="1"/>
          <p:nvPr/>
        </p:nvSpPr>
        <p:spPr>
          <a:xfrm>
            <a:off x="548640" y="1554480"/>
            <a:ext cx="5669280" cy="4206240"/>
          </a:xfrm>
          <a:prstGeom prst="rect">
            <a:avLst/>
          </a:prstGeom>
          <a:noFill/>
          <a:ln/>
        </p:spPr>
        <p:txBody>
          <a:bodyPr wrap="square" lIns="0" tIns="0" rIns="0" bIns="0" rtlCol="0" anchor="t"/>
          <a:lstStyle/>
          <a:p>
            <a:pPr marL="0" indent="0">
              <a:spcAft>
                <a:spcPts val="600"/>
              </a:spcAft>
              <a:buNone/>
            </a:pPr>
            <a:r>
              <a:rPr lang="en-US" sz="1800" b="1" dirty="0">
                <a:solidFill>
                  <a:srgbClr val="2F3B55"/>
                </a:solidFill>
                <a:latin typeface="Times New Roman" pitchFamily="34" charset="0"/>
                <a:ea typeface="Times New Roman" pitchFamily="34" charset="-122"/>
                <a:cs typeface="Times New Roman" pitchFamily="34" charset="-120"/>
              </a:rPr>
              <a:t>Market: </a:t>
            </a:r>
            <a:r>
              <a:rPr lang="en-US" sz="1800" dirty="0">
                <a:solidFill>
                  <a:srgbClr val="2F3B55"/>
                </a:solidFill>
                <a:latin typeface="Times New Roman" pitchFamily="34" charset="0"/>
                <a:ea typeface="Times New Roman" pitchFamily="34" charset="-122"/>
                <a:cs typeface="Times New Roman" pitchFamily="34" charset="-120"/>
              </a:rPr>
              <a:t>two firms sell similar products; buyers choose by price (logit Bertrand duopoly, Calvano et al. 2020).</a:t>
            </a:r>
            <a:endParaRPr lang="en-US" sz="1800" dirty="0"/>
          </a:p>
          <a:p>
            <a:pPr marL="0" indent="0">
              <a:spcAft>
                <a:spcPts val="600"/>
              </a:spcAft>
              <a:buNone/>
            </a:pPr>
            <a:r>
              <a:rPr lang="en-US" sz="800" dirty="0">
                <a:solidFill>
                  <a:srgbClr val="2F3B55"/>
                </a:solidFill>
                <a:latin typeface="Times New Roman" pitchFamily="34" charset="0"/>
                <a:ea typeface="Times New Roman" pitchFamily="34" charset="-122"/>
                <a:cs typeface="Times New Roman" pitchFamily="34" charset="-120"/>
              </a:rPr>
              <a:t> </a:t>
            </a:r>
            <a:endParaRPr lang="en-US" sz="1800" dirty="0"/>
          </a:p>
          <a:p>
            <a:pPr marL="0" indent="0">
              <a:spcAft>
                <a:spcPts val="600"/>
              </a:spcAft>
              <a:buNone/>
            </a:pPr>
            <a:r>
              <a:rPr lang="en-US" sz="1800" b="1" dirty="0">
                <a:solidFill>
                  <a:srgbClr val="2F3B55"/>
                </a:solidFill>
                <a:latin typeface="Times New Roman" pitchFamily="34" charset="0"/>
                <a:ea typeface="Times New Roman" pitchFamily="34" charset="-122"/>
                <a:cs typeface="Times New Roman" pitchFamily="34" charset="-120"/>
              </a:rPr>
              <a:t>Agents: </a:t>
            </a:r>
            <a:r>
              <a:rPr lang="en-US" sz="1800" dirty="0">
                <a:solidFill>
                  <a:srgbClr val="2F3B55"/>
                </a:solidFill>
                <a:latin typeface="Times New Roman" pitchFamily="34" charset="0"/>
                <a:ea typeface="Times New Roman" pitchFamily="34" charset="-122"/>
                <a:cs typeface="Times New Roman" pitchFamily="34" charset="-120"/>
              </a:rPr>
              <a:t>each firm is an open LLM. Each round it sees the rules, its last 30 rounds and its notes, and answers with a price and new notes. The prompt never mentions collusion.</a:t>
            </a:r>
            <a:endParaRPr lang="en-US" sz="1800" dirty="0"/>
          </a:p>
          <a:p>
            <a:pPr marL="0" indent="0">
              <a:spcAft>
                <a:spcPts val="600"/>
              </a:spcAft>
              <a:buNone/>
            </a:pPr>
            <a:r>
              <a:rPr lang="en-US" sz="800" dirty="0">
                <a:solidFill>
                  <a:srgbClr val="2F3B55"/>
                </a:solidFill>
                <a:latin typeface="Times New Roman" pitchFamily="34" charset="0"/>
                <a:ea typeface="Times New Roman" pitchFamily="34" charset="-122"/>
                <a:cs typeface="Times New Roman" pitchFamily="34" charset="-120"/>
              </a:rPr>
              <a:t> </a:t>
            </a:r>
            <a:endParaRPr lang="en-US" sz="1800" dirty="0"/>
          </a:p>
          <a:p>
            <a:pPr marL="0" indent="0">
              <a:spcAft>
                <a:spcPts val="600"/>
              </a:spcAft>
              <a:buNone/>
            </a:pPr>
            <a:r>
              <a:rPr lang="en-US" sz="1800" b="1" dirty="0">
                <a:solidFill>
                  <a:srgbClr val="2F3B55"/>
                </a:solidFill>
                <a:latin typeface="Times New Roman" pitchFamily="34" charset="0"/>
                <a:ea typeface="Times New Roman" pitchFamily="34" charset="-122"/>
                <a:cs typeface="Times New Roman" pitchFamily="34" charset="-120"/>
              </a:rPr>
              <a:t>Models: </a:t>
            </a:r>
            <a:r>
              <a:rPr lang="en-US" sz="1800" dirty="0">
                <a:solidFill>
                  <a:srgbClr val="2F3B55"/>
                </a:solidFill>
                <a:latin typeface="Times New Roman" pitchFamily="34" charset="0"/>
                <a:ea typeface="Times New Roman" pitchFamily="34" charset="-122"/>
                <a:cs typeface="Times New Roman" pitchFamily="34" charset="-120"/>
              </a:rPr>
              <a:t>Qwen2.5-7B incumbents; Mistral-7B and OLMo-2-7B as other-family entrants.</a:t>
            </a:r>
            <a:endParaRPr lang="en-US" sz="1800" dirty="0"/>
          </a:p>
        </p:txBody>
      </p:sp>
      <p:sp>
        <p:nvSpPr>
          <p:cNvPr id="4" name="Shape 2"/>
          <p:cNvSpPr/>
          <p:nvPr/>
        </p:nvSpPr>
        <p:spPr>
          <a:xfrm>
            <a:off x="6675120" y="1463040"/>
            <a:ext cx="4937760" cy="4206240"/>
          </a:xfrm>
          <a:prstGeom prst="roundRect">
            <a:avLst>
              <a:gd name="adj" fmla="val 3043"/>
            </a:avLst>
          </a:prstGeom>
          <a:solidFill>
            <a:srgbClr val="FFFBF4"/>
          </a:solidFill>
          <a:ln w="12700">
            <a:solidFill>
              <a:srgbClr val="E7DCCB"/>
            </a:solidFill>
            <a:prstDash val="solid"/>
          </a:ln>
          <a:effectLst>
            <a:outerShdw blurRad="76200" dist="25400" dir="5400000" algn="bl" rotWithShape="0">
              <a:srgbClr val="BFB3A0">
                <a:alpha val="25000"/>
              </a:srgbClr>
            </a:outerShdw>
          </a:effectLst>
        </p:spPr>
      </p:sp>
      <p:sp>
        <p:nvSpPr>
          <p:cNvPr id="5" name="Text 3"/>
          <p:cNvSpPr txBox="1"/>
          <p:nvPr/>
        </p:nvSpPr>
        <p:spPr>
          <a:xfrm>
            <a:off x="6949440" y="1691640"/>
            <a:ext cx="4480560" cy="457200"/>
          </a:xfrm>
          <a:prstGeom prst="rect">
            <a:avLst/>
          </a:prstGeom>
          <a:noFill/>
          <a:ln/>
        </p:spPr>
        <p:txBody>
          <a:bodyPr wrap="square" lIns="0" tIns="0" rIns="0" bIns="0" rtlCol="0" anchor="t"/>
          <a:lstStyle/>
          <a:p>
            <a:pPr marL="0" indent="0">
              <a:buNone/>
            </a:pPr>
            <a:r>
              <a:rPr lang="en-US" sz="1800" b="1" dirty="0">
                <a:solidFill>
                  <a:srgbClr val="1E2A44"/>
                </a:solidFill>
                <a:latin typeface="Times New Roman" pitchFamily="34" charset="0"/>
                <a:ea typeface="Times New Roman" pitchFamily="34" charset="-122"/>
                <a:cs typeface="Times New Roman" pitchFamily="34" charset="-120"/>
              </a:rPr>
              <a:t>Two benchmarks define the scale</a:t>
            </a:r>
            <a:endParaRPr lang="en-US" sz="1800" dirty="0"/>
          </a:p>
        </p:txBody>
      </p:sp>
      <p:sp>
        <p:nvSpPr>
          <p:cNvPr id="6" name="Shape 4"/>
          <p:cNvSpPr/>
          <p:nvPr/>
        </p:nvSpPr>
        <p:spPr>
          <a:xfrm>
            <a:off x="7132320" y="2971800"/>
            <a:ext cx="4023360" cy="201168"/>
          </a:xfrm>
          <a:prstGeom prst="rect">
            <a:avLst/>
          </a:prstGeom>
          <a:solidFill>
            <a:srgbClr val="D9CFBF"/>
          </a:solidFill>
          <a:ln w="12700">
            <a:solidFill>
              <a:srgbClr val="D9CFBF"/>
            </a:solidFill>
            <a:prstDash val="solid"/>
          </a:ln>
        </p:spPr>
      </p:sp>
      <p:sp>
        <p:nvSpPr>
          <p:cNvPr id="7" name="Shape 5"/>
          <p:cNvSpPr/>
          <p:nvPr/>
        </p:nvSpPr>
        <p:spPr>
          <a:xfrm>
            <a:off x="7040880" y="2889504"/>
            <a:ext cx="365760" cy="365760"/>
          </a:xfrm>
          <a:prstGeom prst="ellipse">
            <a:avLst/>
          </a:prstGeom>
          <a:solidFill>
            <a:srgbClr val="1E2A44"/>
          </a:solidFill>
          <a:ln w="12700">
            <a:solidFill>
              <a:srgbClr val="1E2A44"/>
            </a:solidFill>
            <a:prstDash val="solid"/>
          </a:ln>
        </p:spPr>
      </p:sp>
      <p:sp>
        <p:nvSpPr>
          <p:cNvPr id="8" name="Shape 6"/>
          <p:cNvSpPr/>
          <p:nvPr/>
        </p:nvSpPr>
        <p:spPr>
          <a:xfrm>
            <a:off x="10881360" y="2889504"/>
            <a:ext cx="365760" cy="365760"/>
          </a:xfrm>
          <a:prstGeom prst="ellipse">
            <a:avLst/>
          </a:prstGeom>
          <a:solidFill>
            <a:srgbClr val="1F6F8B"/>
          </a:solidFill>
          <a:ln w="12700">
            <a:solidFill>
              <a:srgbClr val="1F6F8B"/>
            </a:solidFill>
            <a:prstDash val="solid"/>
          </a:ln>
        </p:spPr>
      </p:sp>
      <p:sp>
        <p:nvSpPr>
          <p:cNvPr id="9" name="Text 7"/>
          <p:cNvSpPr txBox="1"/>
          <p:nvPr/>
        </p:nvSpPr>
        <p:spPr>
          <a:xfrm>
            <a:off x="6858000" y="3383280"/>
            <a:ext cx="2011680" cy="731520"/>
          </a:xfrm>
          <a:prstGeom prst="rect">
            <a:avLst/>
          </a:prstGeom>
          <a:noFill/>
          <a:ln/>
        </p:spPr>
        <p:txBody>
          <a:bodyPr wrap="square" lIns="0" tIns="0" rIns="0" bIns="0" rtlCol="0" anchor="t"/>
          <a:lstStyle/>
          <a:p>
            <a:pPr marL="0" indent="0">
              <a:buNone/>
            </a:pPr>
            <a:r>
              <a:rPr lang="en-US" sz="1400" b="1" dirty="0">
                <a:solidFill>
                  <a:srgbClr val="1E2A44"/>
                </a:solidFill>
                <a:latin typeface="Times New Roman" pitchFamily="34" charset="0"/>
                <a:ea typeface="Times New Roman" pitchFamily="34" charset="-122"/>
                <a:cs typeface="Times New Roman" pitchFamily="34" charset="-120"/>
              </a:rPr>
              <a:t>Competitive (Nash)</a:t>
            </a:r>
            <a:endParaRPr lang="en-US" sz="1400" dirty="0"/>
          </a:p>
          <a:p>
            <a:pPr marL="0" indent="0">
              <a:buNone/>
            </a:pPr>
            <a:r>
              <a:rPr lang="en-US" sz="1400" b="1" dirty="0">
                <a:solidFill>
                  <a:srgbClr val="1E2A44"/>
                </a:solidFill>
                <a:latin typeface="Times New Roman" pitchFamily="34" charset="0"/>
                <a:ea typeface="Times New Roman" pitchFamily="34" charset="-122"/>
                <a:cs typeface="Times New Roman" pitchFamily="34" charset="-120"/>
              </a:rPr>
              <a:t>price 1.473</a:t>
            </a:r>
            <a:endParaRPr lang="en-US" sz="1400" dirty="0"/>
          </a:p>
        </p:txBody>
      </p:sp>
      <p:sp>
        <p:nvSpPr>
          <p:cNvPr id="10" name="Text 8"/>
          <p:cNvSpPr txBox="1"/>
          <p:nvPr/>
        </p:nvSpPr>
        <p:spPr>
          <a:xfrm>
            <a:off x="9601200" y="3383280"/>
            <a:ext cx="1828800" cy="731520"/>
          </a:xfrm>
          <a:prstGeom prst="rect">
            <a:avLst/>
          </a:prstGeom>
          <a:noFill/>
          <a:ln/>
        </p:spPr>
        <p:txBody>
          <a:bodyPr wrap="square" lIns="0" tIns="0" rIns="0" bIns="0" rtlCol="0" anchor="t"/>
          <a:lstStyle/>
          <a:p>
            <a:pPr marL="0" indent="0" algn="r">
              <a:buNone/>
            </a:pPr>
            <a:r>
              <a:rPr lang="en-US" sz="1400" b="1" dirty="0">
                <a:solidFill>
                  <a:srgbClr val="1F6F8B"/>
                </a:solidFill>
                <a:latin typeface="Times New Roman" pitchFamily="34" charset="0"/>
                <a:ea typeface="Times New Roman" pitchFamily="34" charset="-122"/>
                <a:cs typeface="Times New Roman" pitchFamily="34" charset="-120"/>
              </a:rPr>
              <a:t>Monopoly</a:t>
            </a:r>
            <a:endParaRPr lang="en-US" sz="1400" dirty="0"/>
          </a:p>
          <a:p>
            <a:pPr marL="0" indent="0" algn="r">
              <a:buNone/>
            </a:pPr>
            <a:r>
              <a:rPr lang="en-US" sz="1400" b="1" dirty="0">
                <a:solidFill>
                  <a:srgbClr val="1F6F8B"/>
                </a:solidFill>
                <a:latin typeface="Times New Roman" pitchFamily="34" charset="0"/>
                <a:ea typeface="Times New Roman" pitchFamily="34" charset="-122"/>
                <a:cs typeface="Times New Roman" pitchFamily="34" charset="-120"/>
              </a:rPr>
              <a:t>price 1.925</a:t>
            </a:r>
            <a:endParaRPr lang="en-US" sz="1400" dirty="0"/>
          </a:p>
        </p:txBody>
      </p:sp>
      <p:sp>
        <p:nvSpPr>
          <p:cNvPr id="11" name="Text 9"/>
          <p:cNvSpPr txBox="1"/>
          <p:nvPr/>
        </p:nvSpPr>
        <p:spPr>
          <a:xfrm>
            <a:off x="6949440" y="4297680"/>
            <a:ext cx="4480560" cy="118872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Profit index and price index: 0 = competitive level, 1 = monopoly level. A price above the monopoly price gives a price index above 1 but a lower profit index.</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Copy every cartel into eight exactly paired worlds</a:t>
            </a:r>
            <a:endParaRPr lang="en-US" sz="3000" dirty="0"/>
          </a:p>
        </p:txBody>
      </p:sp>
      <p:sp>
        <p:nvSpPr>
          <p:cNvPr id="3" name="Shape 1"/>
          <p:cNvSpPr/>
          <p:nvPr/>
        </p:nvSpPr>
        <p:spPr>
          <a:xfrm>
            <a:off x="548640" y="1371600"/>
            <a:ext cx="2651760" cy="1737360"/>
          </a:xfrm>
          <a:prstGeom prst="roundRect">
            <a:avLst>
              <a:gd name="adj" fmla="val 7368"/>
            </a:avLst>
          </a:prstGeom>
          <a:solidFill>
            <a:srgbClr val="DCEBF0"/>
          </a:solidFill>
          <a:ln w="12700">
            <a:solidFill>
              <a:srgbClr val="E7DCCB"/>
            </a:solidFill>
            <a:prstDash val="solid"/>
          </a:ln>
          <a:effectLst>
            <a:outerShdw blurRad="76200" dist="25400" dir="5400000" algn="bl" rotWithShape="0">
              <a:srgbClr val="BFB3A0">
                <a:alpha val="25000"/>
              </a:srgbClr>
            </a:outerShdw>
          </a:effectLst>
        </p:spPr>
      </p:sp>
      <p:sp>
        <p:nvSpPr>
          <p:cNvPr id="4" name="Shape 2"/>
          <p:cNvSpPr/>
          <p:nvPr/>
        </p:nvSpPr>
        <p:spPr>
          <a:xfrm>
            <a:off x="731520" y="1554480"/>
            <a:ext cx="502920" cy="502920"/>
          </a:xfrm>
          <a:prstGeom prst="ellipse">
            <a:avLst/>
          </a:prstGeom>
          <a:solidFill>
            <a:srgbClr val="1F6F8B"/>
          </a:solidFill>
          <a:ln w="12700">
            <a:solidFill>
              <a:srgbClr val="1F6F8B"/>
            </a:solidFill>
            <a:prstDash val="solid"/>
          </a:ln>
        </p:spPr>
      </p:sp>
      <p:sp>
        <p:nvSpPr>
          <p:cNvPr id="5" name="Text 3"/>
          <p:cNvSpPr txBox="1"/>
          <p:nvPr/>
        </p:nvSpPr>
        <p:spPr>
          <a:xfrm>
            <a:off x="73152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6" name="Text 4"/>
          <p:cNvSpPr txBox="1"/>
          <p:nvPr/>
        </p:nvSpPr>
        <p:spPr>
          <a:xfrm>
            <a:off x="1371600" y="1627632"/>
            <a:ext cx="1737360" cy="365760"/>
          </a:xfrm>
          <a:prstGeom prst="rect">
            <a:avLst/>
          </a:prstGeom>
          <a:noFill/>
          <a:ln/>
        </p:spPr>
        <p:txBody>
          <a:bodyPr wrap="square" lIns="0" tIns="0" rIns="0" bIns="0" rtlCol="0" anchor="t"/>
          <a:lstStyle/>
          <a:p>
            <a:pPr marL="0" indent="0">
              <a:buNone/>
            </a:pPr>
            <a:r>
              <a:rPr lang="en-US" sz="1700" b="1" dirty="0">
                <a:solidFill>
                  <a:srgbClr val="1E2A44"/>
                </a:solidFill>
                <a:latin typeface="Times New Roman" pitchFamily="34" charset="0"/>
                <a:ea typeface="Times New Roman" pitchFamily="34" charset="-122"/>
                <a:cs typeface="Times New Roman" pitchFamily="34" charset="-120"/>
              </a:rPr>
              <a:t>Phase 1</a:t>
            </a:r>
            <a:endParaRPr lang="en-US" sz="1700" dirty="0"/>
          </a:p>
        </p:txBody>
      </p:sp>
      <p:sp>
        <p:nvSpPr>
          <p:cNvPr id="7" name="Text 5"/>
          <p:cNvSpPr txBox="1"/>
          <p:nvPr/>
        </p:nvSpPr>
        <p:spPr>
          <a:xfrm>
            <a:off x="731520" y="2194560"/>
            <a:ext cx="2331720" cy="91440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Two Qwen2.5-7B agents play 100 rounds in 30–40 markets per run.</a:t>
            </a:r>
            <a:endParaRPr lang="en-US" sz="1400" dirty="0"/>
          </a:p>
        </p:txBody>
      </p:sp>
      <p:sp>
        <p:nvSpPr>
          <p:cNvPr id="8" name="Shape 6"/>
          <p:cNvSpPr/>
          <p:nvPr/>
        </p:nvSpPr>
        <p:spPr>
          <a:xfrm>
            <a:off x="3383280" y="1371600"/>
            <a:ext cx="2651760" cy="1737360"/>
          </a:xfrm>
          <a:prstGeom prst="roundRect">
            <a:avLst>
              <a:gd name="adj" fmla="val 7368"/>
            </a:avLst>
          </a:prstGeom>
          <a:solidFill>
            <a:srgbClr val="F8E1D7"/>
          </a:solidFill>
          <a:ln w="12700">
            <a:solidFill>
              <a:srgbClr val="E7DCCB"/>
            </a:solidFill>
            <a:prstDash val="solid"/>
          </a:ln>
          <a:effectLst>
            <a:outerShdw blurRad="76200" dist="25400" dir="5400000" algn="bl" rotWithShape="0">
              <a:srgbClr val="BFB3A0">
                <a:alpha val="25000"/>
              </a:srgbClr>
            </a:outerShdw>
          </a:effectLst>
        </p:spPr>
      </p:sp>
      <p:sp>
        <p:nvSpPr>
          <p:cNvPr id="9" name="Shape 7"/>
          <p:cNvSpPr/>
          <p:nvPr/>
        </p:nvSpPr>
        <p:spPr>
          <a:xfrm>
            <a:off x="3566160" y="1554480"/>
            <a:ext cx="502920" cy="502920"/>
          </a:xfrm>
          <a:prstGeom prst="ellipse">
            <a:avLst/>
          </a:prstGeom>
          <a:solidFill>
            <a:srgbClr val="C8553D"/>
          </a:solidFill>
          <a:ln w="12700">
            <a:solidFill>
              <a:srgbClr val="C8553D"/>
            </a:solidFill>
            <a:prstDash val="solid"/>
          </a:ln>
        </p:spPr>
      </p:sp>
      <p:sp>
        <p:nvSpPr>
          <p:cNvPr id="10" name="Text 8"/>
          <p:cNvSpPr txBox="1"/>
          <p:nvPr/>
        </p:nvSpPr>
        <p:spPr>
          <a:xfrm>
            <a:off x="356616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1" name="Text 9"/>
          <p:cNvSpPr txBox="1"/>
          <p:nvPr/>
        </p:nvSpPr>
        <p:spPr>
          <a:xfrm>
            <a:off x="4206240" y="1627632"/>
            <a:ext cx="1737360" cy="365760"/>
          </a:xfrm>
          <a:prstGeom prst="rect">
            <a:avLst/>
          </a:prstGeom>
          <a:noFill/>
          <a:ln/>
        </p:spPr>
        <p:txBody>
          <a:bodyPr wrap="square" lIns="0" tIns="0" rIns="0" bIns="0" rtlCol="0" anchor="t"/>
          <a:lstStyle/>
          <a:p>
            <a:pPr marL="0" indent="0">
              <a:buNone/>
            </a:pPr>
            <a:r>
              <a:rPr lang="en-US" sz="1700" b="1" dirty="0">
                <a:solidFill>
                  <a:srgbClr val="1E2A44"/>
                </a:solidFill>
                <a:latin typeface="Times New Roman" pitchFamily="34" charset="0"/>
                <a:ea typeface="Times New Roman" pitchFamily="34" charset="-122"/>
                <a:cs typeface="Times New Roman" pitchFamily="34" charset="-120"/>
              </a:rPr>
              <a:t>Keep cartels</a:t>
            </a:r>
            <a:endParaRPr lang="en-US" sz="1700" dirty="0"/>
          </a:p>
        </p:txBody>
      </p:sp>
      <p:sp>
        <p:nvSpPr>
          <p:cNvPr id="12" name="Text 10"/>
          <p:cNvSpPr txBox="1"/>
          <p:nvPr/>
        </p:nvSpPr>
        <p:spPr>
          <a:xfrm>
            <a:off x="3566160" y="2194560"/>
            <a:ext cx="2331720" cy="91440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A market continues only if its profit index in rounds 50–99 is above 0.3.</a:t>
            </a:r>
            <a:endParaRPr lang="en-US" sz="1400" dirty="0"/>
          </a:p>
        </p:txBody>
      </p:sp>
      <p:sp>
        <p:nvSpPr>
          <p:cNvPr id="13" name="Shape 11"/>
          <p:cNvSpPr/>
          <p:nvPr/>
        </p:nvSpPr>
        <p:spPr>
          <a:xfrm>
            <a:off x="6217920" y="1371600"/>
            <a:ext cx="2651760" cy="1737360"/>
          </a:xfrm>
          <a:prstGeom prst="roundRect">
            <a:avLst>
              <a:gd name="adj" fmla="val 7368"/>
            </a:avLst>
          </a:prstGeom>
          <a:solidFill>
            <a:srgbClr val="E4EEDF"/>
          </a:solidFill>
          <a:ln w="12700">
            <a:solidFill>
              <a:srgbClr val="E7DCCB"/>
            </a:solidFill>
            <a:prstDash val="solid"/>
          </a:ln>
          <a:effectLst>
            <a:outerShdw blurRad="76200" dist="25400" dir="5400000" algn="bl" rotWithShape="0">
              <a:srgbClr val="BFB3A0">
                <a:alpha val="25000"/>
              </a:srgbClr>
            </a:outerShdw>
          </a:effectLst>
        </p:spPr>
      </p:sp>
      <p:sp>
        <p:nvSpPr>
          <p:cNvPr id="14" name="Shape 12"/>
          <p:cNvSpPr/>
          <p:nvPr/>
        </p:nvSpPr>
        <p:spPr>
          <a:xfrm>
            <a:off x="6400800" y="1554480"/>
            <a:ext cx="502920" cy="502920"/>
          </a:xfrm>
          <a:prstGeom prst="ellipse">
            <a:avLst/>
          </a:prstGeom>
          <a:solidFill>
            <a:srgbClr val="5E8C61"/>
          </a:solidFill>
          <a:ln w="12700">
            <a:solidFill>
              <a:srgbClr val="5E8C61"/>
            </a:solidFill>
            <a:prstDash val="solid"/>
          </a:ln>
        </p:spPr>
      </p:sp>
      <p:sp>
        <p:nvSpPr>
          <p:cNvPr id="15" name="Text 13"/>
          <p:cNvSpPr txBox="1"/>
          <p:nvPr/>
        </p:nvSpPr>
        <p:spPr>
          <a:xfrm>
            <a:off x="640080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16" name="Text 14"/>
          <p:cNvSpPr txBox="1"/>
          <p:nvPr/>
        </p:nvSpPr>
        <p:spPr>
          <a:xfrm>
            <a:off x="7040880" y="1627632"/>
            <a:ext cx="1737360" cy="365760"/>
          </a:xfrm>
          <a:prstGeom prst="rect">
            <a:avLst/>
          </a:prstGeom>
          <a:noFill/>
          <a:ln/>
        </p:spPr>
        <p:txBody>
          <a:bodyPr wrap="square" lIns="0" tIns="0" rIns="0" bIns="0" rtlCol="0" anchor="t"/>
          <a:lstStyle/>
          <a:p>
            <a:pPr marL="0" indent="0">
              <a:buNone/>
            </a:pPr>
            <a:r>
              <a:rPr lang="en-US" sz="1700" b="1" dirty="0">
                <a:solidFill>
                  <a:srgbClr val="1E2A44"/>
                </a:solidFill>
                <a:latin typeface="Times New Roman" pitchFamily="34" charset="0"/>
                <a:ea typeface="Times New Roman" pitchFamily="34" charset="-122"/>
                <a:cs typeface="Times New Roman" pitchFamily="34" charset="-120"/>
              </a:rPr>
              <a:t>Phase 2</a:t>
            </a:r>
            <a:endParaRPr lang="en-US" sz="1700" dirty="0"/>
          </a:p>
        </p:txBody>
      </p:sp>
      <p:sp>
        <p:nvSpPr>
          <p:cNvPr id="17" name="Text 15"/>
          <p:cNvSpPr txBox="1"/>
          <p:nvPr/>
        </p:nvSpPr>
        <p:spPr>
          <a:xfrm>
            <a:off x="6400800" y="2194560"/>
            <a:ext cx="2331720" cy="91440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Each kept market is copied into 8 conditions and plays 100 more rounds.</a:t>
            </a:r>
            <a:endParaRPr lang="en-US" sz="1400" dirty="0"/>
          </a:p>
        </p:txBody>
      </p:sp>
      <p:sp>
        <p:nvSpPr>
          <p:cNvPr id="18" name="Shape 16"/>
          <p:cNvSpPr/>
          <p:nvPr/>
        </p:nvSpPr>
        <p:spPr>
          <a:xfrm>
            <a:off x="9052560" y="1371600"/>
            <a:ext cx="2651760" cy="1737360"/>
          </a:xfrm>
          <a:prstGeom prst="roundRect">
            <a:avLst>
              <a:gd name="adj" fmla="val 7368"/>
            </a:avLst>
          </a:prstGeom>
          <a:solidFill>
            <a:srgbClr val="E8E3F2"/>
          </a:solidFill>
          <a:ln w="12700">
            <a:solidFill>
              <a:srgbClr val="E7DCCB"/>
            </a:solidFill>
            <a:prstDash val="solid"/>
          </a:ln>
          <a:effectLst>
            <a:outerShdw blurRad="76200" dist="25400" dir="5400000" algn="bl" rotWithShape="0">
              <a:srgbClr val="BFB3A0">
                <a:alpha val="25000"/>
              </a:srgbClr>
            </a:outerShdw>
          </a:effectLst>
        </p:spPr>
      </p:sp>
      <p:sp>
        <p:nvSpPr>
          <p:cNvPr id="19" name="Shape 17"/>
          <p:cNvSpPr/>
          <p:nvPr/>
        </p:nvSpPr>
        <p:spPr>
          <a:xfrm>
            <a:off x="9235440" y="1554480"/>
            <a:ext cx="502920" cy="502920"/>
          </a:xfrm>
          <a:prstGeom prst="ellipse">
            <a:avLst/>
          </a:prstGeom>
          <a:solidFill>
            <a:srgbClr val="6A5A9C"/>
          </a:solidFill>
          <a:ln w="12700">
            <a:solidFill>
              <a:srgbClr val="6A5A9C"/>
            </a:solidFill>
            <a:prstDash val="solid"/>
          </a:ln>
        </p:spPr>
      </p:sp>
      <p:sp>
        <p:nvSpPr>
          <p:cNvPr id="20" name="Text 18"/>
          <p:cNvSpPr txBox="1"/>
          <p:nvPr/>
        </p:nvSpPr>
        <p:spPr>
          <a:xfrm>
            <a:off x="923544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21" name="Text 19"/>
          <p:cNvSpPr txBox="1"/>
          <p:nvPr/>
        </p:nvSpPr>
        <p:spPr>
          <a:xfrm>
            <a:off x="9875520" y="1627632"/>
            <a:ext cx="1737360" cy="365760"/>
          </a:xfrm>
          <a:prstGeom prst="rect">
            <a:avLst/>
          </a:prstGeom>
          <a:noFill/>
          <a:ln/>
        </p:spPr>
        <p:txBody>
          <a:bodyPr wrap="square" lIns="0" tIns="0" rIns="0" bIns="0" rtlCol="0" anchor="t"/>
          <a:lstStyle/>
          <a:p>
            <a:pPr marL="0" indent="0">
              <a:buNone/>
            </a:pPr>
            <a:r>
              <a:rPr lang="en-US" sz="1700" b="1" dirty="0">
                <a:solidFill>
                  <a:srgbClr val="1E2A44"/>
                </a:solidFill>
                <a:latin typeface="Times New Roman" pitchFamily="34" charset="0"/>
                <a:ea typeface="Times New Roman" pitchFamily="34" charset="-122"/>
                <a:cs typeface="Times New Roman" pitchFamily="34" charset="-120"/>
              </a:rPr>
              <a:t>Compare</a:t>
            </a:r>
            <a:endParaRPr lang="en-US" sz="1700" dirty="0"/>
          </a:p>
        </p:txBody>
      </p:sp>
      <p:sp>
        <p:nvSpPr>
          <p:cNvPr id="22" name="Text 20"/>
          <p:cNvSpPr txBox="1"/>
          <p:nvPr/>
        </p:nvSpPr>
        <p:spPr>
          <a:xfrm>
            <a:off x="9235440" y="2194560"/>
            <a:ext cx="2331720" cy="91440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Same random seeds in every copy: differences come only from the replacement. Outcome: rounds 150–199.</a:t>
            </a:r>
            <a:endParaRPr lang="en-US" sz="1400" dirty="0"/>
          </a:p>
        </p:txBody>
      </p:sp>
      <p:sp>
        <p:nvSpPr>
          <p:cNvPr id="23" name="Shape 21"/>
          <p:cNvSpPr/>
          <p:nvPr/>
        </p:nvSpPr>
        <p:spPr>
          <a:xfrm>
            <a:off x="548640" y="3429000"/>
            <a:ext cx="2651760" cy="1188720"/>
          </a:xfrm>
          <a:prstGeom prst="roundRect">
            <a:avLst>
              <a:gd name="adj" fmla="val 7692"/>
            </a:avLst>
          </a:prstGeom>
          <a:solidFill>
            <a:srgbClr val="FFFBF4"/>
          </a:solidFill>
          <a:ln w="12700">
            <a:solidFill>
              <a:srgbClr val="E7DCCB"/>
            </a:solidFill>
            <a:prstDash val="solid"/>
          </a:ln>
        </p:spPr>
      </p:sp>
      <p:sp>
        <p:nvSpPr>
          <p:cNvPr id="24" name="Text 22"/>
          <p:cNvSpPr txBox="1"/>
          <p:nvPr/>
        </p:nvSpPr>
        <p:spPr>
          <a:xfrm>
            <a:off x="731520" y="3566160"/>
            <a:ext cx="2286000" cy="365760"/>
          </a:xfrm>
          <a:prstGeom prst="rect">
            <a:avLst/>
          </a:prstGeom>
          <a:noFill/>
          <a:ln/>
        </p:spPr>
        <p:txBody>
          <a:bodyPr wrap="square" lIns="0" tIns="0" rIns="0" bIns="0" rtlCol="0" anchor="t"/>
          <a:lstStyle/>
          <a:p>
            <a:pPr marL="0" indent="0">
              <a:buNone/>
            </a:pPr>
            <a:r>
              <a:rPr lang="en-US" sz="1600" b="1" dirty="0">
                <a:solidFill>
                  <a:srgbClr val="1E2A44"/>
                </a:solidFill>
                <a:latin typeface="Times New Roman" pitchFamily="34" charset="0"/>
                <a:ea typeface="Times New Roman" pitchFamily="34" charset="-122"/>
                <a:cs typeface="Times New Roman" pitchFamily="34" charset="-120"/>
              </a:rPr>
              <a:t>Control</a:t>
            </a:r>
            <a:endParaRPr lang="en-US" sz="1600" dirty="0"/>
          </a:p>
        </p:txBody>
      </p:sp>
      <p:sp>
        <p:nvSpPr>
          <p:cNvPr id="25" name="Text 23"/>
          <p:cNvSpPr txBox="1"/>
          <p:nvPr/>
        </p:nvSpPr>
        <p:spPr>
          <a:xfrm>
            <a:off x="731520" y="3959352"/>
            <a:ext cx="2286000" cy="64008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no replacement</a:t>
            </a:r>
            <a:endParaRPr lang="en-US" sz="1400" dirty="0"/>
          </a:p>
        </p:txBody>
      </p:sp>
      <p:sp>
        <p:nvSpPr>
          <p:cNvPr id="26" name="Shape 24"/>
          <p:cNvSpPr/>
          <p:nvPr/>
        </p:nvSpPr>
        <p:spPr>
          <a:xfrm>
            <a:off x="3383280" y="3429000"/>
            <a:ext cx="2651760" cy="1188720"/>
          </a:xfrm>
          <a:prstGeom prst="roundRect">
            <a:avLst>
              <a:gd name="adj" fmla="val 7692"/>
            </a:avLst>
          </a:prstGeom>
          <a:solidFill>
            <a:srgbClr val="FFFBF4"/>
          </a:solidFill>
          <a:ln w="12700">
            <a:solidFill>
              <a:srgbClr val="E7DCCB"/>
            </a:solidFill>
            <a:prstDash val="solid"/>
          </a:ln>
        </p:spPr>
      </p:sp>
      <p:sp>
        <p:nvSpPr>
          <p:cNvPr id="27" name="Text 25"/>
          <p:cNvSpPr txBox="1"/>
          <p:nvPr/>
        </p:nvSpPr>
        <p:spPr>
          <a:xfrm>
            <a:off x="3566160" y="3566160"/>
            <a:ext cx="2286000" cy="365760"/>
          </a:xfrm>
          <a:prstGeom prst="rect">
            <a:avLst/>
          </a:prstGeom>
          <a:noFill/>
          <a:ln/>
        </p:spPr>
        <p:txBody>
          <a:bodyPr wrap="square" lIns="0" tIns="0" rIns="0" bIns="0" rtlCol="0" anchor="t"/>
          <a:lstStyle/>
          <a:p>
            <a:pPr marL="0" indent="0">
              <a:buNone/>
            </a:pPr>
            <a:r>
              <a:rPr lang="en-US" sz="1600" b="1" dirty="0">
                <a:solidFill>
                  <a:srgbClr val="1E2A44"/>
                </a:solidFill>
                <a:latin typeface="Times New Roman" pitchFamily="34" charset="0"/>
                <a:ea typeface="Times New Roman" pitchFamily="34" charset="-122"/>
                <a:cs typeface="Times New Roman" pitchFamily="34" charset="-120"/>
              </a:rPr>
              <a:t>Placebo</a:t>
            </a:r>
            <a:endParaRPr lang="en-US" sz="1600" dirty="0"/>
          </a:p>
        </p:txBody>
      </p:sp>
      <p:sp>
        <p:nvSpPr>
          <p:cNvPr id="28" name="Text 26"/>
          <p:cNvSpPr txBox="1"/>
          <p:nvPr/>
        </p:nvSpPr>
        <p:spPr>
          <a:xfrm>
            <a:off x="3566160" y="3959352"/>
            <a:ext cx="2286000" cy="64008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incumbent told of a replacement; none happens</a:t>
            </a:r>
            <a:endParaRPr lang="en-US" sz="1400" dirty="0"/>
          </a:p>
        </p:txBody>
      </p:sp>
      <p:sp>
        <p:nvSpPr>
          <p:cNvPr id="29" name="Shape 27"/>
          <p:cNvSpPr/>
          <p:nvPr/>
        </p:nvSpPr>
        <p:spPr>
          <a:xfrm>
            <a:off x="6217920" y="3429000"/>
            <a:ext cx="2651760" cy="1188720"/>
          </a:xfrm>
          <a:prstGeom prst="roundRect">
            <a:avLst>
              <a:gd name="adj" fmla="val 7692"/>
            </a:avLst>
          </a:prstGeom>
          <a:solidFill>
            <a:srgbClr val="FFFBF4"/>
          </a:solidFill>
          <a:ln w="25400">
            <a:solidFill>
              <a:srgbClr val="1F6F8B"/>
            </a:solidFill>
            <a:prstDash val="solid"/>
          </a:ln>
        </p:spPr>
      </p:sp>
      <p:sp>
        <p:nvSpPr>
          <p:cNvPr id="30" name="Text 28"/>
          <p:cNvSpPr txBox="1"/>
          <p:nvPr/>
        </p:nvSpPr>
        <p:spPr>
          <a:xfrm>
            <a:off x="6400800" y="3566160"/>
            <a:ext cx="2286000" cy="365760"/>
          </a:xfrm>
          <a:prstGeom prst="rect">
            <a:avLst/>
          </a:prstGeom>
          <a:noFill/>
          <a:ln/>
        </p:spPr>
        <p:txBody>
          <a:bodyPr wrap="square" lIns="0" tIns="0" rIns="0" bIns="0" rtlCol="0" anchor="t"/>
          <a:lstStyle/>
          <a:p>
            <a:pPr marL="0" indent="0">
              <a:buNone/>
            </a:pPr>
            <a:r>
              <a:rPr lang="en-US" sz="1600" b="1" dirty="0">
                <a:solidFill>
                  <a:srgbClr val="1E2A44"/>
                </a:solidFill>
                <a:latin typeface="Times New Roman" pitchFamily="34" charset="0"/>
                <a:ea typeface="Times New Roman" pitchFamily="34" charset="-122"/>
                <a:cs typeface="Times New Roman" pitchFamily="34" charset="-120"/>
              </a:rPr>
              <a:t>Same + history</a:t>
            </a:r>
            <a:endParaRPr lang="en-US" sz="1600" dirty="0"/>
          </a:p>
        </p:txBody>
      </p:sp>
      <p:sp>
        <p:nvSpPr>
          <p:cNvPr id="31" name="Text 29"/>
          <p:cNvSpPr txBox="1"/>
          <p:nvPr/>
        </p:nvSpPr>
        <p:spPr>
          <a:xfrm>
            <a:off x="6400800" y="3959352"/>
            <a:ext cx="2286000" cy="64008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new Qwen agent, reads the last 30 rounds</a:t>
            </a:r>
            <a:endParaRPr lang="en-US" sz="1400" dirty="0"/>
          </a:p>
        </p:txBody>
      </p:sp>
      <p:sp>
        <p:nvSpPr>
          <p:cNvPr id="32" name="Shape 30"/>
          <p:cNvSpPr/>
          <p:nvPr/>
        </p:nvSpPr>
        <p:spPr>
          <a:xfrm>
            <a:off x="9052560" y="3429000"/>
            <a:ext cx="2651760" cy="1188720"/>
          </a:xfrm>
          <a:prstGeom prst="roundRect">
            <a:avLst>
              <a:gd name="adj" fmla="val 7692"/>
            </a:avLst>
          </a:prstGeom>
          <a:solidFill>
            <a:srgbClr val="FFFBF4"/>
          </a:solidFill>
          <a:ln w="12700">
            <a:solidFill>
              <a:srgbClr val="E7DCCB"/>
            </a:solidFill>
            <a:prstDash val="solid"/>
          </a:ln>
        </p:spPr>
      </p:sp>
      <p:sp>
        <p:nvSpPr>
          <p:cNvPr id="33" name="Text 31"/>
          <p:cNvSpPr txBox="1"/>
          <p:nvPr/>
        </p:nvSpPr>
        <p:spPr>
          <a:xfrm>
            <a:off x="9235440" y="3566160"/>
            <a:ext cx="2286000" cy="365760"/>
          </a:xfrm>
          <a:prstGeom prst="rect">
            <a:avLst/>
          </a:prstGeom>
          <a:noFill/>
          <a:ln/>
        </p:spPr>
        <p:txBody>
          <a:bodyPr wrap="square" lIns="0" tIns="0" rIns="0" bIns="0" rtlCol="0" anchor="t"/>
          <a:lstStyle/>
          <a:p>
            <a:pPr marL="0" indent="0">
              <a:buNone/>
            </a:pPr>
            <a:r>
              <a:rPr lang="en-US" sz="1600" b="1" dirty="0">
                <a:solidFill>
                  <a:srgbClr val="1E2A44"/>
                </a:solidFill>
                <a:latin typeface="Times New Roman" pitchFamily="34" charset="0"/>
                <a:ea typeface="Times New Roman" pitchFamily="34" charset="-122"/>
                <a:cs typeface="Times New Roman" pitchFamily="34" charset="-120"/>
              </a:rPr>
              <a:t>Same, no history</a:t>
            </a:r>
            <a:endParaRPr lang="en-US" sz="1600" dirty="0"/>
          </a:p>
        </p:txBody>
      </p:sp>
      <p:sp>
        <p:nvSpPr>
          <p:cNvPr id="34" name="Text 32"/>
          <p:cNvSpPr txBox="1"/>
          <p:nvPr/>
        </p:nvSpPr>
        <p:spPr>
          <a:xfrm>
            <a:off x="9235440" y="3959352"/>
            <a:ext cx="2286000" cy="64008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new Qwen agent, starts blank</a:t>
            </a:r>
            <a:endParaRPr lang="en-US" sz="1400" dirty="0"/>
          </a:p>
        </p:txBody>
      </p:sp>
      <p:sp>
        <p:nvSpPr>
          <p:cNvPr id="35" name="Shape 33"/>
          <p:cNvSpPr/>
          <p:nvPr/>
        </p:nvSpPr>
        <p:spPr>
          <a:xfrm>
            <a:off x="548640" y="4800600"/>
            <a:ext cx="2651760" cy="1188720"/>
          </a:xfrm>
          <a:prstGeom prst="roundRect">
            <a:avLst>
              <a:gd name="adj" fmla="val 7692"/>
            </a:avLst>
          </a:prstGeom>
          <a:solidFill>
            <a:srgbClr val="FFFBF4"/>
          </a:solidFill>
          <a:ln w="12700">
            <a:solidFill>
              <a:srgbClr val="E7DCCB"/>
            </a:solidFill>
            <a:prstDash val="solid"/>
          </a:ln>
        </p:spPr>
      </p:sp>
      <p:sp>
        <p:nvSpPr>
          <p:cNvPr id="36" name="Text 34"/>
          <p:cNvSpPr txBox="1"/>
          <p:nvPr/>
        </p:nvSpPr>
        <p:spPr>
          <a:xfrm>
            <a:off x="731520" y="4937760"/>
            <a:ext cx="2286000" cy="365760"/>
          </a:xfrm>
          <a:prstGeom prst="rect">
            <a:avLst/>
          </a:prstGeom>
          <a:noFill/>
          <a:ln/>
        </p:spPr>
        <p:txBody>
          <a:bodyPr wrap="square" lIns="0" tIns="0" rIns="0" bIns="0" rtlCol="0" anchor="t"/>
          <a:lstStyle/>
          <a:p>
            <a:pPr marL="0" indent="0">
              <a:buNone/>
            </a:pPr>
            <a:r>
              <a:rPr lang="en-US" sz="1600" b="1" dirty="0">
                <a:solidFill>
                  <a:srgbClr val="1E2A44"/>
                </a:solidFill>
                <a:latin typeface="Times New Roman" pitchFamily="34" charset="0"/>
                <a:ea typeface="Times New Roman" pitchFamily="34" charset="-122"/>
                <a:cs typeface="Times New Roman" pitchFamily="34" charset="-120"/>
              </a:rPr>
              <a:t>Same, notes only</a:t>
            </a:r>
            <a:endParaRPr lang="en-US" sz="1600" dirty="0"/>
          </a:p>
        </p:txBody>
      </p:sp>
      <p:sp>
        <p:nvSpPr>
          <p:cNvPr id="37" name="Text 35"/>
          <p:cNvSpPr txBox="1"/>
          <p:nvPr/>
        </p:nvSpPr>
        <p:spPr>
          <a:xfrm>
            <a:off x="731520" y="5330952"/>
            <a:ext cx="2286000" cy="64008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new Qwen agent, gets the old notes only</a:t>
            </a:r>
            <a:endParaRPr lang="en-US" sz="1400" dirty="0"/>
          </a:p>
        </p:txBody>
      </p:sp>
      <p:sp>
        <p:nvSpPr>
          <p:cNvPr id="38" name="Shape 36"/>
          <p:cNvSpPr/>
          <p:nvPr/>
        </p:nvSpPr>
        <p:spPr>
          <a:xfrm>
            <a:off x="3383280" y="4800600"/>
            <a:ext cx="2651760" cy="1188720"/>
          </a:xfrm>
          <a:prstGeom prst="roundRect">
            <a:avLst>
              <a:gd name="adj" fmla="val 7692"/>
            </a:avLst>
          </a:prstGeom>
          <a:solidFill>
            <a:srgbClr val="FFFBF4"/>
          </a:solidFill>
          <a:ln w="12700">
            <a:solidFill>
              <a:srgbClr val="E7DCCB"/>
            </a:solidFill>
            <a:prstDash val="solid"/>
          </a:ln>
        </p:spPr>
      </p:sp>
      <p:sp>
        <p:nvSpPr>
          <p:cNvPr id="39" name="Text 37"/>
          <p:cNvSpPr txBox="1"/>
          <p:nvPr/>
        </p:nvSpPr>
        <p:spPr>
          <a:xfrm>
            <a:off x="3566160" y="4937760"/>
            <a:ext cx="2286000" cy="365760"/>
          </a:xfrm>
          <a:prstGeom prst="rect">
            <a:avLst/>
          </a:prstGeom>
          <a:noFill/>
          <a:ln/>
        </p:spPr>
        <p:txBody>
          <a:bodyPr wrap="square" lIns="0" tIns="0" rIns="0" bIns="0" rtlCol="0" anchor="t"/>
          <a:lstStyle/>
          <a:p>
            <a:pPr marL="0" indent="0">
              <a:buNone/>
            </a:pPr>
            <a:r>
              <a:rPr lang="en-US" sz="1600" b="1" dirty="0">
                <a:solidFill>
                  <a:srgbClr val="1E2A44"/>
                </a:solidFill>
                <a:latin typeface="Times New Roman" pitchFamily="34" charset="0"/>
                <a:ea typeface="Times New Roman" pitchFamily="34" charset="-122"/>
                <a:cs typeface="Times New Roman" pitchFamily="34" charset="-120"/>
              </a:rPr>
              <a:t>Other + history</a:t>
            </a:r>
            <a:endParaRPr lang="en-US" sz="1600" dirty="0"/>
          </a:p>
        </p:txBody>
      </p:sp>
      <p:sp>
        <p:nvSpPr>
          <p:cNvPr id="40" name="Text 38"/>
          <p:cNvSpPr txBox="1"/>
          <p:nvPr/>
        </p:nvSpPr>
        <p:spPr>
          <a:xfrm>
            <a:off x="3566160" y="5330952"/>
            <a:ext cx="2286000" cy="64008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Mistral-7B or OLMo-2-7B, reads the history</a:t>
            </a:r>
            <a:endParaRPr lang="en-US" sz="1400" dirty="0"/>
          </a:p>
        </p:txBody>
      </p:sp>
      <p:sp>
        <p:nvSpPr>
          <p:cNvPr id="41" name="Shape 39"/>
          <p:cNvSpPr/>
          <p:nvPr/>
        </p:nvSpPr>
        <p:spPr>
          <a:xfrm>
            <a:off x="6217920" y="4800600"/>
            <a:ext cx="2651760" cy="1188720"/>
          </a:xfrm>
          <a:prstGeom prst="roundRect">
            <a:avLst>
              <a:gd name="adj" fmla="val 7692"/>
            </a:avLst>
          </a:prstGeom>
          <a:solidFill>
            <a:srgbClr val="FFFBF4"/>
          </a:solidFill>
          <a:ln w="12700">
            <a:solidFill>
              <a:srgbClr val="E7DCCB"/>
            </a:solidFill>
            <a:prstDash val="solid"/>
          </a:ln>
        </p:spPr>
      </p:sp>
      <p:sp>
        <p:nvSpPr>
          <p:cNvPr id="42" name="Text 40"/>
          <p:cNvSpPr txBox="1"/>
          <p:nvPr/>
        </p:nvSpPr>
        <p:spPr>
          <a:xfrm>
            <a:off x="6400800" y="4937760"/>
            <a:ext cx="2286000" cy="365760"/>
          </a:xfrm>
          <a:prstGeom prst="rect">
            <a:avLst/>
          </a:prstGeom>
          <a:noFill/>
          <a:ln/>
        </p:spPr>
        <p:txBody>
          <a:bodyPr wrap="square" lIns="0" tIns="0" rIns="0" bIns="0" rtlCol="0" anchor="t"/>
          <a:lstStyle/>
          <a:p>
            <a:pPr marL="0" indent="0">
              <a:buNone/>
            </a:pPr>
            <a:r>
              <a:rPr lang="en-US" sz="1600" b="1" dirty="0">
                <a:solidFill>
                  <a:srgbClr val="1E2A44"/>
                </a:solidFill>
                <a:latin typeface="Times New Roman" pitchFamily="34" charset="0"/>
                <a:ea typeface="Times New Roman" pitchFamily="34" charset="-122"/>
                <a:cs typeface="Times New Roman" pitchFamily="34" charset="-120"/>
              </a:rPr>
              <a:t>Other, no history</a:t>
            </a:r>
            <a:endParaRPr lang="en-US" sz="1600" dirty="0"/>
          </a:p>
        </p:txBody>
      </p:sp>
      <p:sp>
        <p:nvSpPr>
          <p:cNvPr id="43" name="Text 41"/>
          <p:cNvSpPr txBox="1"/>
          <p:nvPr/>
        </p:nvSpPr>
        <p:spPr>
          <a:xfrm>
            <a:off x="6400800" y="5330952"/>
            <a:ext cx="2286000" cy="64008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other family, starts blank</a:t>
            </a:r>
            <a:endParaRPr lang="en-US" sz="1400" dirty="0"/>
          </a:p>
        </p:txBody>
      </p:sp>
      <p:sp>
        <p:nvSpPr>
          <p:cNvPr id="44" name="Shape 42"/>
          <p:cNvSpPr/>
          <p:nvPr/>
        </p:nvSpPr>
        <p:spPr>
          <a:xfrm>
            <a:off x="9052560" y="4800600"/>
            <a:ext cx="2651760" cy="1188720"/>
          </a:xfrm>
          <a:prstGeom prst="roundRect">
            <a:avLst>
              <a:gd name="adj" fmla="val 7692"/>
            </a:avLst>
          </a:prstGeom>
          <a:solidFill>
            <a:srgbClr val="FFFBF4"/>
          </a:solidFill>
          <a:ln w="12700">
            <a:solidFill>
              <a:srgbClr val="E7DCCB"/>
            </a:solidFill>
            <a:prstDash val="solid"/>
          </a:ln>
        </p:spPr>
      </p:sp>
      <p:sp>
        <p:nvSpPr>
          <p:cNvPr id="45" name="Text 43"/>
          <p:cNvSpPr txBox="1"/>
          <p:nvPr/>
        </p:nvSpPr>
        <p:spPr>
          <a:xfrm>
            <a:off x="9235440" y="4937760"/>
            <a:ext cx="2286000" cy="365760"/>
          </a:xfrm>
          <a:prstGeom prst="rect">
            <a:avLst/>
          </a:prstGeom>
          <a:noFill/>
          <a:ln/>
        </p:spPr>
        <p:txBody>
          <a:bodyPr wrap="square" lIns="0" tIns="0" rIns="0" bIns="0" rtlCol="0" anchor="t"/>
          <a:lstStyle/>
          <a:p>
            <a:pPr marL="0" indent="0">
              <a:buNone/>
            </a:pPr>
            <a:r>
              <a:rPr lang="en-US" sz="1600" b="1" dirty="0">
                <a:solidFill>
                  <a:srgbClr val="1E2A44"/>
                </a:solidFill>
                <a:latin typeface="Times New Roman" pitchFamily="34" charset="0"/>
                <a:ea typeface="Times New Roman" pitchFamily="34" charset="-122"/>
                <a:cs typeface="Times New Roman" pitchFamily="34" charset="-120"/>
              </a:rPr>
              <a:t>Best-response bot</a:t>
            </a:r>
            <a:endParaRPr lang="en-US" sz="1600" dirty="0"/>
          </a:p>
        </p:txBody>
      </p:sp>
      <p:sp>
        <p:nvSpPr>
          <p:cNvPr id="46" name="Text 44"/>
          <p:cNvSpPr txBox="1"/>
          <p:nvPr/>
        </p:nvSpPr>
        <p:spPr>
          <a:xfrm>
            <a:off x="9235440" y="5330952"/>
            <a:ext cx="2286000" cy="64008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maximizes only today's profit (negative control)</a:t>
            </a:r>
            <a:endParaRPr lang="en-US" sz="1400" dirty="0"/>
          </a:p>
        </p:txBody>
      </p:sp>
      <p:sp>
        <p:nvSpPr>
          <p:cNvPr id="47"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Result 1: the price history carries the cartel</a:t>
            </a:r>
            <a:endParaRPr lang="en-US" sz="3000" dirty="0"/>
          </a:p>
        </p:txBody>
      </p:sp>
      <p:graphicFrame>
        <p:nvGraphicFramePr>
          <p:cNvPr id="3" name="Chart 0"/>
          <p:cNvGraphicFramePr/>
          <p:nvPr/>
        </p:nvGraphicFramePr>
        <p:xfrm>
          <a:off x="548640" y="132588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863840" y="1463040"/>
            <a:ext cx="3749040" cy="2103120"/>
          </a:xfrm>
          <a:prstGeom prst="roundRect">
            <a:avLst>
              <a:gd name="adj" fmla="val 6087"/>
            </a:avLst>
          </a:prstGeom>
          <a:solidFill>
            <a:srgbClr val="FFFBF4"/>
          </a:solidFill>
          <a:ln w="12700">
            <a:solidFill>
              <a:srgbClr val="E7DCCB"/>
            </a:solidFill>
            <a:prstDash val="solid"/>
          </a:ln>
          <a:effectLst>
            <a:outerShdw blurRad="76200" dist="25400" dir="5400000" algn="bl" rotWithShape="0">
              <a:srgbClr val="BFB3A0">
                <a:alpha val="25000"/>
              </a:srgbClr>
            </a:outerShdw>
          </a:effectLst>
        </p:spPr>
      </p:sp>
      <p:sp>
        <p:nvSpPr>
          <p:cNvPr id="5" name="Text 2"/>
          <p:cNvSpPr txBox="1"/>
          <p:nvPr/>
        </p:nvSpPr>
        <p:spPr>
          <a:xfrm>
            <a:off x="8092440" y="1645920"/>
            <a:ext cx="3383280" cy="731520"/>
          </a:xfrm>
          <a:prstGeom prst="rect">
            <a:avLst/>
          </a:prstGeom>
          <a:noFill/>
          <a:ln/>
        </p:spPr>
        <p:txBody>
          <a:bodyPr wrap="square" lIns="0" tIns="0" rIns="0" bIns="0" rtlCol="0" anchor="t"/>
          <a:lstStyle/>
          <a:p>
            <a:pPr marL="0" indent="0">
              <a:buNone/>
            </a:pPr>
            <a:r>
              <a:rPr lang="en-US" sz="4000" b="1" dirty="0">
                <a:solidFill>
                  <a:srgbClr val="1F6F8B"/>
                </a:solidFill>
                <a:latin typeface="Times New Roman" pitchFamily="34" charset="0"/>
                <a:ea typeface="Times New Roman" pitchFamily="34" charset="-122"/>
                <a:cs typeface="Times New Roman" pitchFamily="34" charset="-120"/>
              </a:rPr>
              <a:t>6 of 6</a:t>
            </a:r>
            <a:endParaRPr lang="en-US" sz="4000" dirty="0"/>
          </a:p>
        </p:txBody>
      </p:sp>
      <p:sp>
        <p:nvSpPr>
          <p:cNvPr id="6" name="Text 3"/>
          <p:cNvSpPr txBox="1"/>
          <p:nvPr/>
        </p:nvSpPr>
        <p:spPr>
          <a:xfrm>
            <a:off x="8092440" y="2423160"/>
            <a:ext cx="3383280" cy="1097280"/>
          </a:xfrm>
          <a:prstGeom prst="rect">
            <a:avLst/>
          </a:prstGeom>
          <a:noFill/>
          <a:ln/>
        </p:spPr>
        <p:txBody>
          <a:bodyPr wrap="square" lIns="0" tIns="0" rIns="0" bIns="0" rtlCol="0" anchor="t"/>
          <a:lstStyle/>
          <a:p>
            <a:pPr marL="0" indent="0">
              <a:buNone/>
            </a:pPr>
            <a:r>
              <a:rPr lang="en-US" sz="1500" dirty="0">
                <a:solidFill>
                  <a:srgbClr val="2F3B55"/>
                </a:solidFill>
                <a:latin typeface="Times New Roman" pitchFamily="34" charset="0"/>
                <a:ea typeface="Times New Roman" pitchFamily="34" charset="-122"/>
                <a:cs typeface="Times New Roman" pitchFamily="34" charset="-120"/>
              </a:rPr>
              <a:t>independent runs: the same model with the history stays at the cartel level; without it, profits fall far.</a:t>
            </a:r>
            <a:endParaRPr lang="en-US" sz="1500" dirty="0"/>
          </a:p>
        </p:txBody>
      </p:sp>
      <p:sp>
        <p:nvSpPr>
          <p:cNvPr id="7" name="Shape 4"/>
          <p:cNvSpPr/>
          <p:nvPr/>
        </p:nvSpPr>
        <p:spPr>
          <a:xfrm>
            <a:off x="7863840" y="3794760"/>
            <a:ext cx="3749040" cy="2331720"/>
          </a:xfrm>
          <a:prstGeom prst="roundRect">
            <a:avLst>
              <a:gd name="adj" fmla="val 5490"/>
            </a:avLst>
          </a:prstGeom>
          <a:solidFill>
            <a:srgbClr val="FFFBF4"/>
          </a:solidFill>
          <a:ln w="12700">
            <a:solidFill>
              <a:srgbClr val="E7DCCB"/>
            </a:solidFill>
            <a:prstDash val="solid"/>
          </a:ln>
          <a:effectLst>
            <a:outerShdw blurRad="76200" dist="25400" dir="5400000" algn="bl" rotWithShape="0">
              <a:srgbClr val="BFB3A0">
                <a:alpha val="25000"/>
              </a:srgbClr>
            </a:outerShdw>
          </a:effectLst>
        </p:spPr>
      </p:sp>
      <p:sp>
        <p:nvSpPr>
          <p:cNvPr id="8" name="Text 5"/>
          <p:cNvSpPr txBox="1"/>
          <p:nvPr/>
        </p:nvSpPr>
        <p:spPr>
          <a:xfrm>
            <a:off x="8092440" y="3977640"/>
            <a:ext cx="3383280" cy="411480"/>
          </a:xfrm>
          <a:prstGeom prst="rect">
            <a:avLst/>
          </a:prstGeom>
          <a:noFill/>
          <a:ln/>
        </p:spPr>
        <p:txBody>
          <a:bodyPr wrap="square" lIns="0" tIns="0" rIns="0" bIns="0" rtlCol="0" anchor="t"/>
          <a:lstStyle/>
          <a:p>
            <a:pPr marL="0" indent="0">
              <a:buNone/>
            </a:pPr>
            <a:r>
              <a:rPr lang="en-US" sz="1800" b="1" dirty="0">
                <a:solidFill>
                  <a:srgbClr val="1E2A44"/>
                </a:solidFill>
                <a:latin typeface="Times New Roman" pitchFamily="34" charset="0"/>
                <a:ea typeface="Times New Roman" pitchFamily="34" charset="-122"/>
                <a:cs typeface="Times New Roman" pitchFamily="34" charset="-120"/>
              </a:rPr>
              <a:t>No notice needed</a:t>
            </a:r>
            <a:endParaRPr lang="en-US" sz="1800" dirty="0"/>
          </a:p>
        </p:txBody>
      </p:sp>
      <p:sp>
        <p:nvSpPr>
          <p:cNvPr id="9" name="Text 6"/>
          <p:cNvSpPr txBox="1"/>
          <p:nvPr/>
        </p:nvSpPr>
        <p:spPr>
          <a:xfrm>
            <a:off x="8092440" y="4434840"/>
            <a:ext cx="3383280" cy="1645920"/>
          </a:xfrm>
          <a:prstGeom prst="rect">
            <a:avLst/>
          </a:prstGeom>
          <a:noFill/>
          <a:ln/>
        </p:spPr>
        <p:txBody>
          <a:bodyPr wrap="square" lIns="0" tIns="0" rIns="0" bIns="0" rtlCol="0" anchor="t"/>
          <a:lstStyle/>
          <a:p>
            <a:pPr marL="0" indent="0">
              <a:buNone/>
            </a:pPr>
            <a:r>
              <a:rPr lang="en-US" sz="1500" dirty="0">
                <a:solidFill>
                  <a:srgbClr val="2F3B55"/>
                </a:solidFill>
                <a:latin typeface="Times New Roman" pitchFamily="34" charset="0"/>
                <a:ea typeface="Times New Roman" pitchFamily="34" charset="-122"/>
                <a:cs typeface="Times New Roman" pitchFamily="34" charset="-120"/>
              </a:rPr>
              <a:t>In the run without a replacement notice the effect is the same (H1: 0.002). The old notes alone keep part of the cartel (H9: +0.342 over no history).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Result 2: without the history, prices overshoot</a:t>
            </a:r>
            <a:endParaRPr lang="en-US" sz="3000" dirty="0"/>
          </a:p>
        </p:txBody>
      </p:sp>
      <p:sp>
        <p:nvSpPr>
          <p:cNvPr id="3" name="Shape 1"/>
          <p:cNvSpPr/>
          <p:nvPr/>
        </p:nvSpPr>
        <p:spPr>
          <a:xfrm>
            <a:off x="457200" y="1280160"/>
            <a:ext cx="7863840" cy="2944368"/>
          </a:xfrm>
          <a:prstGeom prst="roundRect">
            <a:avLst>
              <a:gd name="adj" fmla="val 4348"/>
            </a:avLst>
          </a:prstGeom>
          <a:solidFill>
            <a:srgbClr val="FFFFFF"/>
          </a:solidFill>
          <a:ln w="12700">
            <a:solidFill>
              <a:srgbClr val="E7DCCB"/>
            </a:solidFill>
            <a:prstDash val="solid"/>
          </a:ln>
          <a:effectLst>
            <a:outerShdw blurRad="76200" dist="25400" dir="5400000" algn="bl" rotWithShape="0">
              <a:srgbClr val="BFB3A0">
                <a:alpha val="25000"/>
              </a:srgbClr>
            </a:outerShdw>
          </a:effectLst>
        </p:spPr>
      </p:sp>
      <p:pic>
        <p:nvPicPr>
          <p:cNvPr id="4" name="Image 0" descr="/home/user/AI-Collusion-Research-Sprint/Apart Research/figures/fig_trajectories.png"/>
          <p:cNvPicPr>
            <a:picLocks noChangeAspect="1"/>
          </p:cNvPicPr>
          <p:nvPr/>
        </p:nvPicPr>
        <p:blipFill>
          <a:blip r:embed="rId3"/>
          <a:stretch>
            <a:fillRect/>
          </a:stretch>
        </p:blipFill>
        <p:spPr>
          <a:xfrm>
            <a:off x="548640" y="1371600"/>
            <a:ext cx="7680960" cy="2761488"/>
          </a:xfrm>
          <a:prstGeom prst="rect">
            <a:avLst/>
          </a:prstGeom>
        </p:spPr>
      </p:pic>
      <p:sp>
        <p:nvSpPr>
          <p:cNvPr id="5" name="Text 2"/>
          <p:cNvSpPr txBox="1"/>
          <p:nvPr/>
        </p:nvSpPr>
        <p:spPr>
          <a:xfrm>
            <a:off x="548640" y="4251960"/>
            <a:ext cx="7680960" cy="548640"/>
          </a:xfrm>
          <a:prstGeom prst="rect">
            <a:avLst/>
          </a:prstGeom>
          <a:noFill/>
          <a:ln/>
        </p:spPr>
        <p:txBody>
          <a:bodyPr wrap="square" lIns="0" tIns="0" rIns="0" bIns="0" rtlCol="0" anchor="t"/>
          <a:lstStyle/>
          <a:p>
            <a:pPr marL="0" indent="0">
              <a:buNone/>
            </a:pPr>
            <a:r>
              <a:rPr lang="en-US" sz="1300" dirty="0">
                <a:solidFill>
                  <a:srgbClr val="626B7F"/>
                </a:solidFill>
                <a:latin typeface="Times New Roman" pitchFamily="34" charset="0"/>
                <a:ea typeface="Times New Roman" pitchFamily="34" charset="-122"/>
                <a:cs typeface="Times New Roman" pitchFamily="34" charset="-120"/>
              </a:rPr>
              <a:t>Run 9, mean over 29 markets per condition. Left: profit index. Right: price index. Dashed line: the replacement at round 100.</a:t>
            </a:r>
            <a:endParaRPr lang="en-US" sz="1300" dirty="0"/>
          </a:p>
        </p:txBody>
      </p:sp>
      <p:sp>
        <p:nvSpPr>
          <p:cNvPr id="6" name="Shape 3"/>
          <p:cNvSpPr/>
          <p:nvPr/>
        </p:nvSpPr>
        <p:spPr>
          <a:xfrm>
            <a:off x="8595360" y="1371600"/>
            <a:ext cx="3017520" cy="4754880"/>
          </a:xfrm>
          <a:prstGeom prst="roundRect">
            <a:avLst>
              <a:gd name="adj" fmla="val 4242"/>
            </a:avLst>
          </a:prstGeom>
          <a:solidFill>
            <a:srgbClr val="FFFBF4"/>
          </a:solidFill>
          <a:ln w="12700">
            <a:solidFill>
              <a:srgbClr val="E7DCCB"/>
            </a:solidFill>
            <a:prstDash val="solid"/>
          </a:ln>
          <a:effectLst>
            <a:outerShdw blurRad="76200" dist="25400" dir="5400000" algn="bl" rotWithShape="0">
              <a:srgbClr val="BFB3A0">
                <a:alpha val="25000"/>
              </a:srgbClr>
            </a:outerShdw>
          </a:effectLst>
        </p:spPr>
      </p:sp>
      <p:sp>
        <p:nvSpPr>
          <p:cNvPr id="7" name="Text 4"/>
          <p:cNvSpPr txBox="1"/>
          <p:nvPr/>
        </p:nvSpPr>
        <p:spPr>
          <a:xfrm>
            <a:off x="8823960" y="1600200"/>
            <a:ext cx="2651760" cy="731520"/>
          </a:xfrm>
          <a:prstGeom prst="rect">
            <a:avLst/>
          </a:prstGeom>
          <a:noFill/>
          <a:ln/>
        </p:spPr>
        <p:txBody>
          <a:bodyPr wrap="square" lIns="0" tIns="0" rIns="0" bIns="0" rtlCol="0" anchor="t"/>
          <a:lstStyle/>
          <a:p>
            <a:pPr marL="0" indent="0">
              <a:buNone/>
            </a:pPr>
            <a:r>
              <a:rPr lang="en-US" sz="4000" b="1" dirty="0">
                <a:solidFill>
                  <a:srgbClr val="1F6F8B"/>
                </a:solidFill>
                <a:latin typeface="Times New Roman" pitchFamily="34" charset="0"/>
                <a:ea typeface="Times New Roman" pitchFamily="34" charset="-122"/>
                <a:cs typeface="Times New Roman" pitchFamily="34" charset="-120"/>
              </a:rPr>
              <a:t>1.314</a:t>
            </a:r>
            <a:endParaRPr lang="en-US" sz="4000" dirty="0"/>
          </a:p>
        </p:txBody>
      </p:sp>
      <p:sp>
        <p:nvSpPr>
          <p:cNvPr id="8" name="Text 5"/>
          <p:cNvSpPr txBox="1"/>
          <p:nvPr/>
        </p:nvSpPr>
        <p:spPr>
          <a:xfrm>
            <a:off x="8823960" y="2377440"/>
            <a:ext cx="2606040" cy="1188720"/>
          </a:xfrm>
          <a:prstGeom prst="rect">
            <a:avLst/>
          </a:prstGeom>
          <a:noFill/>
          <a:ln/>
        </p:spPr>
        <p:txBody>
          <a:bodyPr wrap="square" lIns="0" tIns="0" rIns="0" bIns="0" rtlCol="0" anchor="t"/>
          <a:lstStyle/>
          <a:p>
            <a:pPr marL="0" indent="0">
              <a:buNone/>
            </a:pPr>
            <a:r>
              <a:rPr lang="en-US" sz="1500" dirty="0">
                <a:solidFill>
                  <a:srgbClr val="2F3B55"/>
                </a:solidFill>
                <a:latin typeface="Times New Roman" pitchFamily="34" charset="0"/>
                <a:ea typeface="Times New Roman" pitchFamily="34" charset="-122"/>
                <a:cs typeface="Times New Roman" pitchFamily="34" charset="-120"/>
              </a:rPr>
              <a:t>price index of the entrant without history in run 9 (above the monopoly level of 1)</a:t>
            </a:r>
            <a:endParaRPr lang="en-US" sz="1500" dirty="0"/>
          </a:p>
        </p:txBody>
      </p:sp>
      <p:sp>
        <p:nvSpPr>
          <p:cNvPr id="9" name="Text 6"/>
          <p:cNvSpPr txBox="1"/>
          <p:nvPr/>
        </p:nvSpPr>
        <p:spPr>
          <a:xfrm>
            <a:off x="8823960" y="3749040"/>
            <a:ext cx="2606040" cy="2103120"/>
          </a:xfrm>
          <a:prstGeom prst="rect">
            <a:avLst/>
          </a:prstGeom>
          <a:noFill/>
          <a:ln/>
        </p:spPr>
        <p:txBody>
          <a:bodyPr wrap="square" lIns="0" tIns="0" rIns="0" bIns="0" rtlCol="0" anchor="t"/>
          <a:lstStyle/>
          <a:p>
            <a:pPr marL="0" indent="0">
              <a:buNone/>
            </a:pPr>
            <a:r>
              <a:rPr lang="en-US" sz="1500" dirty="0">
                <a:solidFill>
                  <a:srgbClr val="2F3B55"/>
                </a:solidFill>
                <a:latin typeface="Times New Roman" pitchFamily="34" charset="0"/>
                <a:ea typeface="Times New Roman" pitchFamily="34" charset="-122"/>
                <a:cs typeface="Times New Roman" pitchFamily="34" charset="-120"/>
              </a:rPr>
              <a:t>A monitor that tracks only profits would call this the end of the cartel. Consumers still pay more than the monopoly price.</a:t>
            </a:r>
            <a:endParaRPr lang="en-US" sz="1500" dirty="0"/>
          </a:p>
        </p:txBody>
      </p:sp>
      <p:sp>
        <p:nvSpPr>
          <p:cNvPr id="10" name="Text 7"/>
          <p:cNvSpPr txBox="1"/>
          <p:nvPr/>
        </p:nvSpPr>
        <p:spPr>
          <a:xfrm>
            <a:off x="548640" y="4983480"/>
            <a:ext cx="7680960" cy="731520"/>
          </a:xfrm>
          <a:prstGeom prst="rect">
            <a:avLst/>
          </a:prstGeom>
          <a:noFill/>
          <a:ln/>
        </p:spPr>
        <p:txBody>
          <a:bodyPr wrap="square" lIns="0" tIns="0" rIns="0" bIns="0" rtlCol="0" anchor="t"/>
          <a:lstStyle/>
          <a:p>
            <a:pPr marL="0" indent="0">
              <a:buNone/>
            </a:pPr>
            <a:r>
              <a:rPr lang="en-US" sz="1600" b="1" dirty="0">
                <a:solidFill>
                  <a:srgbClr val="2F3B55"/>
                </a:solidFill>
                <a:latin typeface="Times New Roman" pitchFamily="34" charset="0"/>
                <a:ea typeface="Times New Roman" pitchFamily="34" charset="-122"/>
                <a:cs typeface="Times New Roman" pitchFamily="34" charset="-120"/>
              </a:rPr>
              <a:t>Price index of this entrant is above no replacement in 6 of 6 runs (interval above 0 in 5 of 6).</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Result 3: the new model's pricing style decides the outcome</a:t>
            </a:r>
            <a:endParaRPr lang="en-US" sz="3000" dirty="0"/>
          </a:p>
        </p:txBody>
      </p:sp>
      <p:sp>
        <p:nvSpPr>
          <p:cNvPr id="3" name="Shape 1"/>
          <p:cNvSpPr/>
          <p:nvPr/>
        </p:nvSpPr>
        <p:spPr>
          <a:xfrm>
            <a:off x="548640" y="1417320"/>
            <a:ext cx="5394960" cy="4206240"/>
          </a:xfrm>
          <a:prstGeom prst="roundRect">
            <a:avLst>
              <a:gd name="adj" fmla="val 3043"/>
            </a:avLst>
          </a:prstGeom>
          <a:solidFill>
            <a:srgbClr val="DCEBF0"/>
          </a:solidFill>
          <a:ln w="12700">
            <a:solidFill>
              <a:srgbClr val="E7DCCB"/>
            </a:solidFill>
            <a:prstDash val="solid"/>
          </a:ln>
          <a:effectLst>
            <a:outerShdw blurRad="76200" dist="25400" dir="5400000" algn="bl" rotWithShape="0">
              <a:srgbClr val="BFB3A0">
                <a:alpha val="25000"/>
              </a:srgbClr>
            </a:outerShdw>
          </a:effectLst>
        </p:spPr>
      </p:sp>
      <p:sp>
        <p:nvSpPr>
          <p:cNvPr id="4" name="Text 2"/>
          <p:cNvSpPr txBox="1"/>
          <p:nvPr/>
        </p:nvSpPr>
        <p:spPr>
          <a:xfrm>
            <a:off x="822960" y="1645920"/>
            <a:ext cx="4846320" cy="457200"/>
          </a:xfrm>
          <a:prstGeom prst="rect">
            <a:avLst/>
          </a:prstGeom>
          <a:noFill/>
          <a:ln/>
        </p:spPr>
        <p:txBody>
          <a:bodyPr wrap="square" lIns="0" tIns="0" rIns="0" bIns="0" rtlCol="0" anchor="t"/>
          <a:lstStyle/>
          <a:p>
            <a:pPr marL="0" indent="0">
              <a:buNone/>
            </a:pPr>
            <a:r>
              <a:rPr lang="en-US" sz="2200" b="1" dirty="0">
                <a:solidFill>
                  <a:srgbClr val="1E2A44"/>
                </a:solidFill>
                <a:latin typeface="Times New Roman" pitchFamily="34" charset="0"/>
                <a:ea typeface="Times New Roman" pitchFamily="34" charset="-122"/>
                <a:cs typeface="Times New Roman" pitchFamily="34" charset="-120"/>
              </a:rPr>
              <a:t>Mistral-7B entrant</a:t>
            </a:r>
            <a:endParaRPr lang="en-US" sz="2200" dirty="0"/>
          </a:p>
        </p:txBody>
      </p:sp>
      <p:sp>
        <p:nvSpPr>
          <p:cNvPr id="5" name="Text 3"/>
          <p:cNvSpPr txBox="1"/>
          <p:nvPr/>
        </p:nvSpPr>
        <p:spPr>
          <a:xfrm>
            <a:off x="822960" y="2240280"/>
            <a:ext cx="4846320" cy="868680"/>
          </a:xfrm>
          <a:prstGeom prst="rect">
            <a:avLst/>
          </a:prstGeom>
          <a:noFill/>
          <a:ln/>
        </p:spPr>
        <p:txBody>
          <a:bodyPr wrap="square" lIns="0" tIns="0" rIns="0" bIns="0" rtlCol="0" anchor="t"/>
          <a:lstStyle/>
          <a:p>
            <a:pPr marL="0" indent="0">
              <a:buNone/>
            </a:pPr>
            <a:r>
              <a:rPr lang="en-US" sz="4400" b="1" dirty="0">
                <a:solidFill>
                  <a:srgbClr val="1F6F8B"/>
                </a:solidFill>
                <a:latin typeface="Times New Roman" pitchFamily="34" charset="0"/>
                <a:ea typeface="Times New Roman" pitchFamily="34" charset="-122"/>
                <a:cs typeface="Times New Roman" pitchFamily="34" charset="-120"/>
              </a:rPr>
              <a:t>21.6–25.5%</a:t>
            </a:r>
            <a:endParaRPr lang="en-US" sz="4400" dirty="0"/>
          </a:p>
        </p:txBody>
      </p:sp>
      <p:sp>
        <p:nvSpPr>
          <p:cNvPr id="6" name="Text 4"/>
          <p:cNvSpPr txBox="1"/>
          <p:nvPr/>
        </p:nvSpPr>
        <p:spPr>
          <a:xfrm>
            <a:off x="822960" y="3108960"/>
            <a:ext cx="4846320" cy="365760"/>
          </a:xfrm>
          <a:prstGeom prst="rect">
            <a:avLst/>
          </a:prstGeom>
          <a:noFill/>
          <a:ln/>
        </p:spPr>
        <p:txBody>
          <a:bodyPr wrap="square" lIns="0" tIns="0" rIns="0" bIns="0" rtlCol="0" anchor="t"/>
          <a:lstStyle/>
          <a:p>
            <a:pPr marL="0" indent="0">
              <a:buNone/>
            </a:pPr>
            <a:r>
              <a:rPr lang="en-US" sz="1500" dirty="0">
                <a:solidFill>
                  <a:srgbClr val="626B7F"/>
                </a:solidFill>
                <a:latin typeface="Times New Roman" pitchFamily="34" charset="0"/>
                <a:ea typeface="Times New Roman" pitchFamily="34" charset="-122"/>
                <a:cs typeface="Times New Roman" pitchFamily="34" charset="-120"/>
              </a:rPr>
              <a:t>of rounds it repeats its last price</a:t>
            </a:r>
            <a:endParaRPr lang="en-US" sz="1500" dirty="0"/>
          </a:p>
        </p:txBody>
      </p:sp>
      <p:sp>
        <p:nvSpPr>
          <p:cNvPr id="7" name="Text 5"/>
          <p:cNvSpPr txBox="1"/>
          <p:nvPr/>
        </p:nvSpPr>
        <p:spPr>
          <a:xfrm>
            <a:off x="822960" y="3657600"/>
            <a:ext cx="4846320" cy="1828800"/>
          </a:xfrm>
          <a:prstGeom prst="rect">
            <a:avLst/>
          </a:prstGeom>
          <a:noFill/>
          <a:ln/>
        </p:spPr>
        <p:txBody>
          <a:bodyPr wrap="square" lIns="0" tIns="0" rIns="0" bIns="0" rtlCol="0" anchor="t"/>
          <a:lstStyle/>
          <a:p>
            <a:pPr marL="0" indent="0">
              <a:buNone/>
            </a:pPr>
            <a:r>
              <a:rPr lang="en-US" sz="1600" dirty="0">
                <a:solidFill>
                  <a:srgbClr val="2F3B55"/>
                </a:solidFill>
                <a:latin typeface="Times New Roman" pitchFamily="34" charset="0"/>
                <a:ea typeface="Times New Roman" pitchFamily="34" charset="-122"/>
                <a:cs typeface="Times New Roman" pitchFamily="34" charset="-120"/>
              </a:rPr>
              <a:t>Breaks the inherited cartel in 4 of 4 runs: profit index 0.55–0.78 below no replacement. It explores, and prices drift down.</a:t>
            </a:r>
            <a:endParaRPr lang="en-US" sz="1600" dirty="0"/>
          </a:p>
        </p:txBody>
      </p:sp>
      <p:sp>
        <p:nvSpPr>
          <p:cNvPr id="8" name="Shape 6"/>
          <p:cNvSpPr/>
          <p:nvPr/>
        </p:nvSpPr>
        <p:spPr>
          <a:xfrm>
            <a:off x="6217920" y="1417320"/>
            <a:ext cx="5394960" cy="4206240"/>
          </a:xfrm>
          <a:prstGeom prst="roundRect">
            <a:avLst>
              <a:gd name="adj" fmla="val 3043"/>
            </a:avLst>
          </a:prstGeom>
          <a:solidFill>
            <a:srgbClr val="F8E1D7"/>
          </a:solidFill>
          <a:ln w="12700">
            <a:solidFill>
              <a:srgbClr val="E7DCCB"/>
            </a:solidFill>
            <a:prstDash val="solid"/>
          </a:ln>
          <a:effectLst>
            <a:outerShdw blurRad="76200" dist="25400" dir="5400000" algn="bl" rotWithShape="0">
              <a:srgbClr val="BFB3A0">
                <a:alpha val="25000"/>
              </a:srgbClr>
            </a:outerShdw>
          </a:effectLst>
        </p:spPr>
      </p:sp>
      <p:sp>
        <p:nvSpPr>
          <p:cNvPr id="9" name="Text 7"/>
          <p:cNvSpPr txBox="1"/>
          <p:nvPr/>
        </p:nvSpPr>
        <p:spPr>
          <a:xfrm>
            <a:off x="6492240" y="1645920"/>
            <a:ext cx="4846320" cy="457200"/>
          </a:xfrm>
          <a:prstGeom prst="rect">
            <a:avLst/>
          </a:prstGeom>
          <a:noFill/>
          <a:ln/>
        </p:spPr>
        <p:txBody>
          <a:bodyPr wrap="square" lIns="0" tIns="0" rIns="0" bIns="0" rtlCol="0" anchor="t"/>
          <a:lstStyle/>
          <a:p>
            <a:pPr marL="0" indent="0">
              <a:buNone/>
            </a:pPr>
            <a:r>
              <a:rPr lang="en-US" sz="2200" b="1" dirty="0">
                <a:solidFill>
                  <a:srgbClr val="1E2A44"/>
                </a:solidFill>
                <a:latin typeface="Times New Roman" pitchFamily="34" charset="0"/>
                <a:ea typeface="Times New Roman" pitchFamily="34" charset="-122"/>
                <a:cs typeface="Times New Roman" pitchFamily="34" charset="-120"/>
              </a:rPr>
              <a:t>OLMo-2-7B entrant</a:t>
            </a:r>
            <a:endParaRPr lang="en-US" sz="2200" dirty="0"/>
          </a:p>
        </p:txBody>
      </p:sp>
      <p:sp>
        <p:nvSpPr>
          <p:cNvPr id="10" name="Text 8"/>
          <p:cNvSpPr txBox="1"/>
          <p:nvPr/>
        </p:nvSpPr>
        <p:spPr>
          <a:xfrm>
            <a:off x="6492240" y="2240280"/>
            <a:ext cx="4846320" cy="868680"/>
          </a:xfrm>
          <a:prstGeom prst="rect">
            <a:avLst/>
          </a:prstGeom>
          <a:noFill/>
          <a:ln/>
        </p:spPr>
        <p:txBody>
          <a:bodyPr wrap="square" lIns="0" tIns="0" rIns="0" bIns="0" rtlCol="0" anchor="t"/>
          <a:lstStyle/>
          <a:p>
            <a:pPr marL="0" indent="0">
              <a:buNone/>
            </a:pPr>
            <a:r>
              <a:rPr lang="en-US" sz="4400" b="1" dirty="0">
                <a:solidFill>
                  <a:srgbClr val="C8553D"/>
                </a:solidFill>
                <a:latin typeface="Times New Roman" pitchFamily="34" charset="0"/>
                <a:ea typeface="Times New Roman" pitchFamily="34" charset="-122"/>
                <a:cs typeface="Times New Roman" pitchFamily="34" charset="-120"/>
              </a:rPr>
              <a:t>96.3–96.8%</a:t>
            </a:r>
            <a:endParaRPr lang="en-US" sz="4400" dirty="0"/>
          </a:p>
        </p:txBody>
      </p:sp>
      <p:sp>
        <p:nvSpPr>
          <p:cNvPr id="11" name="Text 9"/>
          <p:cNvSpPr txBox="1"/>
          <p:nvPr/>
        </p:nvSpPr>
        <p:spPr>
          <a:xfrm>
            <a:off x="6492240" y="3108960"/>
            <a:ext cx="4846320" cy="365760"/>
          </a:xfrm>
          <a:prstGeom prst="rect">
            <a:avLst/>
          </a:prstGeom>
          <a:noFill/>
          <a:ln/>
        </p:spPr>
        <p:txBody>
          <a:bodyPr wrap="square" lIns="0" tIns="0" rIns="0" bIns="0" rtlCol="0" anchor="t"/>
          <a:lstStyle/>
          <a:p>
            <a:pPr marL="0" indent="0">
              <a:buNone/>
            </a:pPr>
            <a:r>
              <a:rPr lang="en-US" sz="1500" dirty="0">
                <a:solidFill>
                  <a:srgbClr val="626B7F"/>
                </a:solidFill>
                <a:latin typeface="Times New Roman" pitchFamily="34" charset="0"/>
                <a:ea typeface="Times New Roman" pitchFamily="34" charset="-122"/>
                <a:cs typeface="Times New Roman" pitchFamily="34" charset="-120"/>
              </a:rPr>
              <a:t>of rounds it repeats its last price</a:t>
            </a:r>
            <a:endParaRPr lang="en-US" sz="1500" dirty="0"/>
          </a:p>
        </p:txBody>
      </p:sp>
      <p:sp>
        <p:nvSpPr>
          <p:cNvPr id="12" name="Text 10"/>
          <p:cNvSpPr txBox="1"/>
          <p:nvPr/>
        </p:nvSpPr>
        <p:spPr>
          <a:xfrm>
            <a:off x="6492240" y="3657600"/>
            <a:ext cx="4846320" cy="1828800"/>
          </a:xfrm>
          <a:prstGeom prst="rect">
            <a:avLst/>
          </a:prstGeom>
          <a:noFill/>
          <a:ln/>
        </p:spPr>
        <p:txBody>
          <a:bodyPr wrap="square" lIns="0" tIns="0" rIns="0" bIns="0" rtlCol="0" anchor="t"/>
          <a:lstStyle/>
          <a:p>
            <a:pPr marL="0" indent="0">
              <a:buNone/>
            </a:pPr>
            <a:r>
              <a:rPr lang="en-US" sz="1600" dirty="0">
                <a:solidFill>
                  <a:srgbClr val="2F3B55"/>
                </a:solidFill>
                <a:latin typeface="Times New Roman" pitchFamily="34" charset="0"/>
                <a:ea typeface="Times New Roman" pitchFamily="34" charset="-122"/>
                <a:cs typeface="Times New Roman" pitchFamily="34" charset="-120"/>
              </a:rPr>
              <a:t>Keeps the inherited cartel in 2 of 2 runs. Typical note: “Maintain price at $1.93 as it consistently yields profit.”</a:t>
            </a:r>
            <a:endParaRPr lang="en-US" sz="1600" dirty="0"/>
          </a:p>
        </p:txBody>
      </p:sp>
      <p:sp>
        <p:nvSpPr>
          <p:cNvPr id="13" name="Text 11"/>
          <p:cNvSpPr txBox="1"/>
          <p:nvPr/>
        </p:nvSpPr>
        <p:spPr>
          <a:xfrm>
            <a:off x="548640" y="5806440"/>
            <a:ext cx="11064240" cy="502920"/>
          </a:xfrm>
          <a:prstGeom prst="rect">
            <a:avLst/>
          </a:prstGeom>
          <a:noFill/>
          <a:ln/>
        </p:spPr>
        <p:txBody>
          <a:bodyPr wrap="square" lIns="0" tIns="0" rIns="0" bIns="0" rtlCol="0" anchor="t"/>
          <a:lstStyle/>
          <a:p>
            <a:pPr marL="0" indent="0">
              <a:buNone/>
            </a:pPr>
            <a:r>
              <a:rPr lang="en-US" sz="1500" dirty="0">
                <a:solidFill>
                  <a:srgbClr val="2F3B55"/>
                </a:solidFill>
                <a:latin typeface="Times New Roman" pitchFamily="34" charset="0"/>
                <a:ea typeface="Times New Roman" pitchFamily="34" charset="-122"/>
                <a:cs typeface="Times New Roman" pitchFamily="34" charset="-120"/>
              </a:rPr>
              <a:t>Qwen2.5-7B agents without a replacement repeat their price in 87.7–90.8% of rounds. The price-hold rate can be measured before a model is deployed.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Result 4: the surviving prices are anchored, not enforced</a:t>
            </a:r>
            <a:endParaRPr lang="en-US" sz="3000" dirty="0"/>
          </a:p>
        </p:txBody>
      </p:sp>
      <p:sp>
        <p:nvSpPr>
          <p:cNvPr id="3" name="Shape 1"/>
          <p:cNvSpPr/>
          <p:nvPr/>
        </p:nvSpPr>
        <p:spPr>
          <a:xfrm>
            <a:off x="548640" y="1417320"/>
            <a:ext cx="5852160" cy="1280160"/>
          </a:xfrm>
          <a:prstGeom prst="roundRect">
            <a:avLst>
              <a:gd name="adj" fmla="val 10000"/>
            </a:avLst>
          </a:prstGeom>
          <a:solidFill>
            <a:srgbClr val="DCEBF0"/>
          </a:solidFill>
          <a:ln w="12700">
            <a:solidFill>
              <a:srgbClr val="E7DCCB"/>
            </a:solidFill>
            <a:prstDash val="solid"/>
          </a:ln>
          <a:effectLst>
            <a:outerShdw blurRad="76200" dist="25400" dir="5400000" algn="bl" rotWithShape="0">
              <a:srgbClr val="BFB3A0">
                <a:alpha val="25000"/>
              </a:srgbClr>
            </a:outerShdw>
          </a:effectLst>
        </p:spPr>
      </p:sp>
      <p:sp>
        <p:nvSpPr>
          <p:cNvPr id="4" name="Shape 2"/>
          <p:cNvSpPr/>
          <p:nvPr/>
        </p:nvSpPr>
        <p:spPr>
          <a:xfrm>
            <a:off x="777240" y="1801368"/>
            <a:ext cx="502920" cy="502920"/>
          </a:xfrm>
          <a:prstGeom prst="ellipse">
            <a:avLst/>
          </a:prstGeom>
          <a:solidFill>
            <a:srgbClr val="1F6F8B"/>
          </a:solidFill>
          <a:ln w="12700">
            <a:solidFill>
              <a:srgbClr val="1F6F8B"/>
            </a:solidFill>
            <a:prstDash val="solid"/>
          </a:ln>
        </p:spPr>
      </p:sp>
      <p:sp>
        <p:nvSpPr>
          <p:cNvPr id="5" name="Text 3"/>
          <p:cNvSpPr txBox="1"/>
          <p:nvPr/>
        </p:nvSpPr>
        <p:spPr>
          <a:xfrm>
            <a:off x="777240" y="18013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6" name="Text 4"/>
          <p:cNvSpPr txBox="1"/>
          <p:nvPr/>
        </p:nvSpPr>
        <p:spPr>
          <a:xfrm>
            <a:off x="1508760" y="1581912"/>
            <a:ext cx="4754880" cy="365760"/>
          </a:xfrm>
          <a:prstGeom prst="rect">
            <a:avLst/>
          </a:prstGeom>
          <a:noFill/>
          <a:ln/>
        </p:spPr>
        <p:txBody>
          <a:bodyPr wrap="square" lIns="0" tIns="0" rIns="0" bIns="0" rtlCol="0" anchor="t"/>
          <a:lstStyle/>
          <a:p>
            <a:pPr marL="0" indent="0">
              <a:buNone/>
            </a:pPr>
            <a:r>
              <a:rPr lang="en-US" sz="1800" b="1" dirty="0">
                <a:solidFill>
                  <a:srgbClr val="1E2A44"/>
                </a:solidFill>
                <a:latin typeface="Times New Roman" pitchFamily="34" charset="0"/>
                <a:ea typeface="Times New Roman" pitchFamily="34" charset="-122"/>
                <a:cs typeface="Times New Roman" pitchFamily="34" charset="-120"/>
              </a:rPr>
              <a:t>Force a cut</a:t>
            </a:r>
            <a:endParaRPr lang="en-US" sz="1800" dirty="0"/>
          </a:p>
        </p:txBody>
      </p:sp>
      <p:sp>
        <p:nvSpPr>
          <p:cNvPr id="7" name="Text 5"/>
          <p:cNvSpPr txBox="1"/>
          <p:nvPr/>
        </p:nvSpPr>
        <p:spPr>
          <a:xfrm>
            <a:off x="1508760" y="1965960"/>
            <a:ext cx="4754880" cy="68580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In a copy of the market, one firm's price is forced 10% down for one round.</a:t>
            </a:r>
            <a:endParaRPr lang="en-US" sz="1400" dirty="0"/>
          </a:p>
        </p:txBody>
      </p:sp>
      <p:sp>
        <p:nvSpPr>
          <p:cNvPr id="8" name="Shape 6"/>
          <p:cNvSpPr/>
          <p:nvPr/>
        </p:nvSpPr>
        <p:spPr>
          <a:xfrm>
            <a:off x="548640" y="2880360"/>
            <a:ext cx="5852160" cy="1280160"/>
          </a:xfrm>
          <a:prstGeom prst="roundRect">
            <a:avLst>
              <a:gd name="adj" fmla="val 10000"/>
            </a:avLst>
          </a:prstGeom>
          <a:solidFill>
            <a:srgbClr val="F8E1D7"/>
          </a:solidFill>
          <a:ln w="12700">
            <a:solidFill>
              <a:srgbClr val="E7DCCB"/>
            </a:solidFill>
            <a:prstDash val="solid"/>
          </a:ln>
          <a:effectLst>
            <a:outerShdw blurRad="76200" dist="25400" dir="5400000" algn="bl" rotWithShape="0">
              <a:srgbClr val="BFB3A0">
                <a:alpha val="25000"/>
              </a:srgbClr>
            </a:outerShdw>
          </a:effectLst>
        </p:spPr>
      </p:sp>
      <p:sp>
        <p:nvSpPr>
          <p:cNvPr id="9" name="Shape 7"/>
          <p:cNvSpPr/>
          <p:nvPr/>
        </p:nvSpPr>
        <p:spPr>
          <a:xfrm>
            <a:off x="777240" y="3264408"/>
            <a:ext cx="502920" cy="502920"/>
          </a:xfrm>
          <a:prstGeom prst="ellipse">
            <a:avLst/>
          </a:prstGeom>
          <a:solidFill>
            <a:srgbClr val="C8553D"/>
          </a:solidFill>
          <a:ln w="12700">
            <a:solidFill>
              <a:srgbClr val="C8553D"/>
            </a:solidFill>
            <a:prstDash val="solid"/>
          </a:ln>
        </p:spPr>
      </p:sp>
      <p:sp>
        <p:nvSpPr>
          <p:cNvPr id="10" name="Text 8"/>
          <p:cNvSpPr txBox="1"/>
          <p:nvPr/>
        </p:nvSpPr>
        <p:spPr>
          <a:xfrm>
            <a:off x="777240" y="32644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1" name="Text 9"/>
          <p:cNvSpPr txBox="1"/>
          <p:nvPr/>
        </p:nvSpPr>
        <p:spPr>
          <a:xfrm>
            <a:off x="1508760" y="3044952"/>
            <a:ext cx="4754880" cy="365760"/>
          </a:xfrm>
          <a:prstGeom prst="rect">
            <a:avLst/>
          </a:prstGeom>
          <a:noFill/>
          <a:ln/>
        </p:spPr>
        <p:txBody>
          <a:bodyPr wrap="square" lIns="0" tIns="0" rIns="0" bIns="0" rtlCol="0" anchor="t"/>
          <a:lstStyle/>
          <a:p>
            <a:pPr marL="0" indent="0">
              <a:buNone/>
            </a:pPr>
            <a:r>
              <a:rPr lang="en-US" sz="1800" b="1" dirty="0">
                <a:solidFill>
                  <a:srgbClr val="1E2A44"/>
                </a:solidFill>
                <a:latin typeface="Times New Roman" pitchFamily="34" charset="0"/>
                <a:ea typeface="Times New Roman" pitchFamily="34" charset="-122"/>
                <a:cs typeface="Times New Roman" pitchFamily="34" charset="-120"/>
              </a:rPr>
              <a:t>Measure the reply</a:t>
            </a:r>
            <a:endParaRPr lang="en-US" sz="1800" dirty="0"/>
          </a:p>
        </p:txBody>
      </p:sp>
      <p:sp>
        <p:nvSpPr>
          <p:cNvPr id="12" name="Text 10"/>
          <p:cNvSpPr txBox="1"/>
          <p:nvPr/>
        </p:nvSpPr>
        <p:spPr>
          <a:xfrm>
            <a:off x="1508760" y="3429000"/>
            <a:ext cx="4754880" cy="68580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Does the rival cut more than a profit-maximizing best response would? That excess is the signature of punishment.</a:t>
            </a:r>
            <a:endParaRPr lang="en-US" sz="1400" dirty="0"/>
          </a:p>
        </p:txBody>
      </p:sp>
      <p:sp>
        <p:nvSpPr>
          <p:cNvPr id="13" name="Shape 11"/>
          <p:cNvSpPr/>
          <p:nvPr/>
        </p:nvSpPr>
        <p:spPr>
          <a:xfrm>
            <a:off x="548640" y="4343400"/>
            <a:ext cx="5852160" cy="1280160"/>
          </a:xfrm>
          <a:prstGeom prst="roundRect">
            <a:avLst>
              <a:gd name="adj" fmla="val 10000"/>
            </a:avLst>
          </a:prstGeom>
          <a:solidFill>
            <a:srgbClr val="E4EEDF"/>
          </a:solidFill>
          <a:ln w="12700">
            <a:solidFill>
              <a:srgbClr val="E7DCCB"/>
            </a:solidFill>
            <a:prstDash val="solid"/>
          </a:ln>
          <a:effectLst>
            <a:outerShdw blurRad="76200" dist="25400" dir="5400000" algn="bl" rotWithShape="0">
              <a:srgbClr val="BFB3A0">
                <a:alpha val="25000"/>
              </a:srgbClr>
            </a:outerShdw>
          </a:effectLst>
        </p:spPr>
      </p:sp>
      <p:sp>
        <p:nvSpPr>
          <p:cNvPr id="14" name="Shape 12"/>
          <p:cNvSpPr/>
          <p:nvPr/>
        </p:nvSpPr>
        <p:spPr>
          <a:xfrm>
            <a:off x="777240" y="4727448"/>
            <a:ext cx="502920" cy="502920"/>
          </a:xfrm>
          <a:prstGeom prst="ellipse">
            <a:avLst/>
          </a:prstGeom>
          <a:solidFill>
            <a:srgbClr val="5E8C61"/>
          </a:solidFill>
          <a:ln w="12700">
            <a:solidFill>
              <a:srgbClr val="5E8C61"/>
            </a:solidFill>
            <a:prstDash val="solid"/>
          </a:ln>
        </p:spPr>
      </p:sp>
      <p:sp>
        <p:nvSpPr>
          <p:cNvPr id="15" name="Text 13"/>
          <p:cNvSpPr txBox="1"/>
          <p:nvPr/>
        </p:nvSpPr>
        <p:spPr>
          <a:xfrm>
            <a:off x="777240" y="472744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16" name="Text 14"/>
          <p:cNvSpPr txBox="1"/>
          <p:nvPr/>
        </p:nvSpPr>
        <p:spPr>
          <a:xfrm>
            <a:off x="1508760" y="4507992"/>
            <a:ext cx="4754880" cy="365760"/>
          </a:xfrm>
          <a:prstGeom prst="rect">
            <a:avLst/>
          </a:prstGeom>
          <a:noFill/>
          <a:ln/>
        </p:spPr>
        <p:txBody>
          <a:bodyPr wrap="square" lIns="0" tIns="0" rIns="0" bIns="0" rtlCol="0" anchor="t"/>
          <a:lstStyle/>
          <a:p>
            <a:pPr marL="0" indent="0">
              <a:buNone/>
            </a:pPr>
            <a:r>
              <a:rPr lang="en-US" sz="1800" b="1" dirty="0">
                <a:solidFill>
                  <a:srgbClr val="1E2A44"/>
                </a:solidFill>
                <a:latin typeface="Times New Roman" pitchFamily="34" charset="0"/>
                <a:ea typeface="Times New Roman" pitchFamily="34" charset="-122"/>
                <a:cs typeface="Times New Roman" pitchFamily="34" charset="-120"/>
              </a:rPr>
              <a:t>Calibrate</a:t>
            </a:r>
            <a:endParaRPr lang="en-US" sz="1800" dirty="0"/>
          </a:p>
        </p:txBody>
      </p:sp>
      <p:sp>
        <p:nvSpPr>
          <p:cNvPr id="17" name="Text 15"/>
          <p:cNvSpPr txBox="1"/>
          <p:nvPr/>
        </p:nvSpPr>
        <p:spPr>
          <a:xfrm>
            <a:off x="1508760" y="4892040"/>
            <a:ext cx="4754880" cy="685800"/>
          </a:xfrm>
          <a:prstGeom prst="rect">
            <a:avLst/>
          </a:prstGeom>
          <a:noFill/>
          <a:ln/>
        </p:spPr>
        <p:txBody>
          <a:bodyPr wrap="square" lIns="0" tIns="0" rIns="0" bIns="0" rtlCol="0" anchor="t"/>
          <a:lstStyle/>
          <a:p>
            <a:pPr marL="0" indent="0">
              <a:buNone/>
            </a:pPr>
            <a:r>
              <a:rPr lang="en-US" sz="1400" dirty="0">
                <a:solidFill>
                  <a:srgbClr val="626B7F"/>
                </a:solidFill>
                <a:latin typeface="Times New Roman" pitchFamily="34" charset="0"/>
                <a:ea typeface="Times New Roman" pitchFamily="34" charset="-122"/>
                <a:cs typeface="Times New Roman" pitchFamily="34" charset="-120"/>
              </a:rPr>
              <a:t>A myopic agent that cannot punish also follows cuts. Count punishment only above this myopic baseline.</a:t>
            </a:r>
            <a:endParaRPr lang="en-US" sz="1400" dirty="0"/>
          </a:p>
        </p:txBody>
      </p:sp>
      <p:sp>
        <p:nvSpPr>
          <p:cNvPr id="18" name="Shape 16"/>
          <p:cNvSpPr/>
          <p:nvPr/>
        </p:nvSpPr>
        <p:spPr>
          <a:xfrm>
            <a:off x="6766560" y="1417320"/>
            <a:ext cx="4846320" cy="4206240"/>
          </a:xfrm>
          <a:prstGeom prst="roundRect">
            <a:avLst>
              <a:gd name="adj" fmla="val 3043"/>
            </a:avLst>
          </a:prstGeom>
          <a:solidFill>
            <a:srgbClr val="FFFBF4"/>
          </a:solidFill>
          <a:ln w="12700">
            <a:solidFill>
              <a:srgbClr val="E7DCCB"/>
            </a:solidFill>
            <a:prstDash val="solid"/>
          </a:ln>
          <a:effectLst>
            <a:outerShdw blurRad="76200" dist="25400" dir="5400000" algn="bl" rotWithShape="0">
              <a:srgbClr val="BFB3A0">
                <a:alpha val="25000"/>
              </a:srgbClr>
            </a:outerShdw>
          </a:effectLst>
        </p:spPr>
      </p:sp>
      <p:sp>
        <p:nvSpPr>
          <p:cNvPr id="19" name="Text 17"/>
          <p:cNvSpPr txBox="1"/>
          <p:nvPr/>
        </p:nvSpPr>
        <p:spPr>
          <a:xfrm>
            <a:off x="7040880" y="1645920"/>
            <a:ext cx="4297680" cy="411480"/>
          </a:xfrm>
          <a:prstGeom prst="rect">
            <a:avLst/>
          </a:prstGeom>
          <a:noFill/>
          <a:ln/>
        </p:spPr>
        <p:txBody>
          <a:bodyPr wrap="square" lIns="0" tIns="0" rIns="0" bIns="0" rtlCol="0" anchor="t"/>
          <a:lstStyle/>
          <a:p>
            <a:pPr marL="0" indent="0">
              <a:buNone/>
            </a:pPr>
            <a:r>
              <a:rPr lang="en-US" sz="1800" b="1" dirty="0">
                <a:solidFill>
                  <a:srgbClr val="1E2A44"/>
                </a:solidFill>
                <a:latin typeface="Times New Roman" pitchFamily="34" charset="0"/>
                <a:ea typeface="Times New Roman" pitchFamily="34" charset="-122"/>
                <a:cs typeface="Times New Roman" pitchFamily="34" charset="-120"/>
              </a:rPr>
              <a:t>After calibration</a:t>
            </a:r>
            <a:endParaRPr lang="en-US" sz="1800" dirty="0"/>
          </a:p>
        </p:txBody>
      </p:sp>
      <p:sp>
        <p:nvSpPr>
          <p:cNvPr id="20" name="Text 18"/>
          <p:cNvSpPr txBox="1"/>
          <p:nvPr/>
        </p:nvSpPr>
        <p:spPr>
          <a:xfrm>
            <a:off x="7040880" y="2148840"/>
            <a:ext cx="4297680" cy="777240"/>
          </a:xfrm>
          <a:prstGeom prst="rect">
            <a:avLst/>
          </a:prstGeom>
          <a:noFill/>
          <a:ln/>
        </p:spPr>
        <p:txBody>
          <a:bodyPr wrap="square" lIns="0" tIns="0" rIns="0" bIns="0" rtlCol="0" anchor="t"/>
          <a:lstStyle/>
          <a:p>
            <a:pPr marL="0" indent="0">
              <a:buNone/>
            </a:pPr>
            <a:r>
              <a:rPr lang="en-US" sz="4000" b="1" dirty="0">
                <a:solidFill>
                  <a:srgbClr val="1F6F8B"/>
                </a:solidFill>
                <a:latin typeface="Times New Roman" pitchFamily="34" charset="0"/>
                <a:ea typeface="Times New Roman" pitchFamily="34" charset="-122"/>
                <a:cs typeface="Times New Roman" pitchFamily="34" charset="-120"/>
              </a:rPr>
              <a:t>0 of 13</a:t>
            </a:r>
            <a:endParaRPr lang="en-US" sz="4000" dirty="0"/>
          </a:p>
        </p:txBody>
      </p:sp>
      <p:sp>
        <p:nvSpPr>
          <p:cNvPr id="21" name="Text 19"/>
          <p:cNvSpPr txBox="1"/>
          <p:nvPr/>
        </p:nvSpPr>
        <p:spPr>
          <a:xfrm>
            <a:off x="7040880" y="2926080"/>
            <a:ext cx="4297680" cy="457200"/>
          </a:xfrm>
          <a:prstGeom prst="rect">
            <a:avLst/>
          </a:prstGeom>
          <a:noFill/>
          <a:ln/>
        </p:spPr>
        <p:txBody>
          <a:bodyPr wrap="square" lIns="0" tIns="0" rIns="0" bIns="0" rtlCol="0" anchor="t"/>
          <a:lstStyle/>
          <a:p>
            <a:pPr marL="0" indent="0">
              <a:buNone/>
            </a:pPr>
            <a:r>
              <a:rPr lang="en-US" sz="1500" dirty="0">
                <a:solidFill>
                  <a:srgbClr val="1E2A44"/>
                </a:solidFill>
                <a:latin typeface="Times New Roman" pitchFamily="34" charset="0"/>
                <a:ea typeface="Times New Roman" pitchFamily="34" charset="-122"/>
                <a:cs typeface="Times New Roman" pitchFamily="34" charset="-120"/>
              </a:rPr>
              <a:t>audit cells show punishment in each of runs 6, 7 and 8</a:t>
            </a:r>
            <a:endParaRPr lang="en-US" sz="1500" dirty="0"/>
          </a:p>
        </p:txBody>
      </p:sp>
      <p:sp>
        <p:nvSpPr>
          <p:cNvPr id="22" name="Text 20"/>
          <p:cNvSpPr txBox="1"/>
          <p:nvPr/>
        </p:nvSpPr>
        <p:spPr>
          <a:xfrm>
            <a:off x="7040880" y="3611880"/>
            <a:ext cx="4297680" cy="777240"/>
          </a:xfrm>
          <a:prstGeom prst="rect">
            <a:avLst/>
          </a:prstGeom>
          <a:noFill/>
          <a:ln/>
        </p:spPr>
        <p:txBody>
          <a:bodyPr wrap="square" lIns="0" tIns="0" rIns="0" bIns="0" rtlCol="0" anchor="t"/>
          <a:lstStyle/>
          <a:p>
            <a:pPr marL="0" indent="0">
              <a:buNone/>
            </a:pPr>
            <a:r>
              <a:rPr lang="en-US" sz="4000" b="1" dirty="0">
                <a:solidFill>
                  <a:srgbClr val="1F6F8B"/>
                </a:solidFill>
                <a:latin typeface="Times New Roman" pitchFamily="34" charset="0"/>
                <a:ea typeface="Times New Roman" pitchFamily="34" charset="-122"/>
                <a:cs typeface="Times New Roman" pitchFamily="34" charset="-120"/>
              </a:rPr>
              <a:t>1 of 15</a:t>
            </a:r>
            <a:endParaRPr lang="en-US" sz="4000" dirty="0"/>
          </a:p>
        </p:txBody>
      </p:sp>
      <p:sp>
        <p:nvSpPr>
          <p:cNvPr id="23" name="Text 21"/>
          <p:cNvSpPr txBox="1"/>
          <p:nvPr/>
        </p:nvSpPr>
        <p:spPr>
          <a:xfrm>
            <a:off x="7040880" y="4389120"/>
            <a:ext cx="4297680" cy="914400"/>
          </a:xfrm>
          <a:prstGeom prst="rect">
            <a:avLst/>
          </a:prstGeom>
          <a:noFill/>
          <a:ln/>
        </p:spPr>
        <p:txBody>
          <a:bodyPr wrap="square" lIns="0" tIns="0" rIns="0" bIns="0" rtlCol="0" anchor="t"/>
          <a:lstStyle/>
          <a:p>
            <a:pPr marL="0" indent="0">
              <a:buNone/>
            </a:pPr>
            <a:r>
              <a:rPr lang="en-US" sz="1500" dirty="0">
                <a:solidFill>
                  <a:srgbClr val="1E2A44"/>
                </a:solidFill>
                <a:latin typeface="Times New Roman" pitchFamily="34" charset="0"/>
                <a:ea typeface="Times New Roman" pitchFamily="34" charset="-122"/>
                <a:cs typeface="Times New Roman" pitchFamily="34" charset="-120"/>
              </a:rPr>
              <a:t>in run 9. The instructed trigger agent (positive control) is detected in runs 4 and 6–9.</a:t>
            </a:r>
            <a:endParaRPr lang="en-US" sz="1500" dirty="0"/>
          </a:p>
        </p:txBody>
      </p:sp>
      <p:sp>
        <p:nvSpPr>
          <p:cNvPr id="24" name="Text 22"/>
          <p:cNvSpPr txBox="1"/>
          <p:nvPr/>
        </p:nvSpPr>
        <p:spPr>
          <a:xfrm>
            <a:off x="548640" y="5806440"/>
            <a:ext cx="11064240" cy="457200"/>
          </a:xfrm>
          <a:prstGeom prst="rect">
            <a:avLst/>
          </a:prstGeom>
          <a:noFill/>
          <a:ln/>
        </p:spPr>
        <p:txBody>
          <a:bodyPr wrap="square" lIns="0" tIns="0" rIns="0" bIns="0" rtlCol="0" anchor="t"/>
          <a:lstStyle/>
          <a:p>
            <a:pPr marL="0" indent="0">
              <a:buNone/>
            </a:pPr>
            <a:r>
              <a:rPr lang="en-US" sz="1500" b="1" dirty="0">
                <a:solidFill>
                  <a:srgbClr val="2F3B55"/>
                </a:solidFill>
                <a:latin typeface="Times New Roman" pitchFamily="34" charset="0"/>
                <a:ea typeface="Times New Roman" pitchFamily="34" charset="-122"/>
                <a:cs typeface="Times New Roman" pitchFamily="34" charset="-120"/>
              </a:rPr>
              <a:t>Without calibration, 0–3 cells per run would look like punishment.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What this means: govern the transcript, not only the agent</a:t>
            </a:r>
            <a:endParaRPr lang="en-US" sz="3000" dirty="0"/>
          </a:p>
        </p:txBody>
      </p:sp>
      <p:sp>
        <p:nvSpPr>
          <p:cNvPr id="3" name="Shape 1"/>
          <p:cNvSpPr/>
          <p:nvPr/>
        </p:nvSpPr>
        <p:spPr>
          <a:xfrm>
            <a:off x="548640" y="1463040"/>
            <a:ext cx="5394960" cy="2103120"/>
          </a:xfrm>
          <a:prstGeom prst="roundRect">
            <a:avLst>
              <a:gd name="adj" fmla="val 6087"/>
            </a:avLst>
          </a:prstGeom>
          <a:solidFill>
            <a:srgbClr val="DCEBF0"/>
          </a:solidFill>
          <a:ln w="12700">
            <a:solidFill>
              <a:srgbClr val="E7DCCB"/>
            </a:solidFill>
            <a:prstDash val="solid"/>
          </a:ln>
          <a:effectLst>
            <a:outerShdw blurRad="76200" dist="25400" dir="5400000" algn="bl" rotWithShape="0">
              <a:srgbClr val="BFB3A0">
                <a:alpha val="25000"/>
              </a:srgbClr>
            </a:outerShdw>
          </a:effectLst>
        </p:spPr>
      </p:sp>
      <p:sp>
        <p:nvSpPr>
          <p:cNvPr id="4" name="Text 2"/>
          <p:cNvSpPr txBox="1"/>
          <p:nvPr/>
        </p:nvSpPr>
        <p:spPr>
          <a:xfrm>
            <a:off x="822960" y="1691640"/>
            <a:ext cx="4846320" cy="411480"/>
          </a:xfrm>
          <a:prstGeom prst="rect">
            <a:avLst/>
          </a:prstGeom>
          <a:noFill/>
          <a:ln/>
        </p:spPr>
        <p:txBody>
          <a:bodyPr wrap="square" lIns="0" tIns="0" rIns="0" bIns="0" rtlCol="0" anchor="t"/>
          <a:lstStyle/>
          <a:p>
            <a:pPr marL="0" indent="0">
              <a:buNone/>
            </a:pPr>
            <a:r>
              <a:rPr lang="en-US" sz="2000" b="1" dirty="0">
                <a:solidFill>
                  <a:srgbClr val="1F6F8B"/>
                </a:solidFill>
                <a:latin typeface="Times New Roman" pitchFamily="34" charset="0"/>
                <a:ea typeface="Times New Roman" pitchFamily="34" charset="-122"/>
                <a:cs typeface="Times New Roman" pitchFamily="34" charset="-120"/>
              </a:rPr>
              <a:t>Competition authorities</a:t>
            </a:r>
            <a:endParaRPr lang="en-US" sz="2000" dirty="0"/>
          </a:p>
        </p:txBody>
      </p:sp>
      <p:sp>
        <p:nvSpPr>
          <p:cNvPr id="5" name="Text 3"/>
          <p:cNvSpPr txBox="1"/>
          <p:nvPr/>
        </p:nvSpPr>
        <p:spPr>
          <a:xfrm>
            <a:off x="822960" y="2194560"/>
            <a:ext cx="4846320" cy="1280160"/>
          </a:xfrm>
          <a:prstGeom prst="rect">
            <a:avLst/>
          </a:prstGeom>
          <a:noFill/>
          <a:ln/>
        </p:spPr>
        <p:txBody>
          <a:bodyPr wrap="square" lIns="0" tIns="0" rIns="0" bIns="0" rtlCol="0" anchor="t"/>
          <a:lstStyle/>
          <a:p>
            <a:pPr marL="0" indent="0">
              <a:buNone/>
            </a:pPr>
            <a:r>
              <a:rPr lang="en-US" sz="1600" dirty="0">
                <a:solidFill>
                  <a:srgbClr val="1E2A44"/>
                </a:solidFill>
                <a:latin typeface="Times New Roman" pitchFamily="34" charset="0"/>
                <a:ea typeface="Times New Roman" pitchFamily="34" charset="-122"/>
                <a:cs typeface="Times New Roman" pitchFamily="34" charset="-120"/>
              </a:rPr>
              <a:t>Replacing a colluding pricing system is not a remedy if the shared price history moves with the seat. Remove or redact the history and the notes.</a:t>
            </a:r>
            <a:endParaRPr lang="en-US" sz="1600" dirty="0"/>
          </a:p>
        </p:txBody>
      </p:sp>
      <p:sp>
        <p:nvSpPr>
          <p:cNvPr id="6" name="Shape 4"/>
          <p:cNvSpPr/>
          <p:nvPr/>
        </p:nvSpPr>
        <p:spPr>
          <a:xfrm>
            <a:off x="6217920" y="1463040"/>
            <a:ext cx="5394960" cy="2103120"/>
          </a:xfrm>
          <a:prstGeom prst="roundRect">
            <a:avLst>
              <a:gd name="adj" fmla="val 6087"/>
            </a:avLst>
          </a:prstGeom>
          <a:solidFill>
            <a:srgbClr val="F8E1D7"/>
          </a:solidFill>
          <a:ln w="12700">
            <a:solidFill>
              <a:srgbClr val="E7DCCB"/>
            </a:solidFill>
            <a:prstDash val="solid"/>
          </a:ln>
          <a:effectLst>
            <a:outerShdw blurRad="76200" dist="25400" dir="5400000" algn="bl" rotWithShape="0">
              <a:srgbClr val="BFB3A0">
                <a:alpha val="25000"/>
              </a:srgbClr>
            </a:outerShdw>
          </a:effectLst>
        </p:spPr>
      </p:sp>
      <p:sp>
        <p:nvSpPr>
          <p:cNvPr id="7" name="Text 5"/>
          <p:cNvSpPr txBox="1"/>
          <p:nvPr/>
        </p:nvSpPr>
        <p:spPr>
          <a:xfrm>
            <a:off x="6492240" y="1691640"/>
            <a:ext cx="4846320" cy="411480"/>
          </a:xfrm>
          <a:prstGeom prst="rect">
            <a:avLst/>
          </a:prstGeom>
          <a:noFill/>
          <a:ln/>
        </p:spPr>
        <p:txBody>
          <a:bodyPr wrap="square" lIns="0" tIns="0" rIns="0" bIns="0" rtlCol="0" anchor="t"/>
          <a:lstStyle/>
          <a:p>
            <a:pPr marL="0" indent="0">
              <a:buNone/>
            </a:pPr>
            <a:r>
              <a:rPr lang="en-US" sz="2000" b="1" dirty="0">
                <a:solidFill>
                  <a:srgbClr val="C8553D"/>
                </a:solidFill>
                <a:latin typeface="Times New Roman" pitchFamily="34" charset="0"/>
                <a:ea typeface="Times New Roman" pitchFamily="34" charset="-122"/>
                <a:cs typeface="Times New Roman" pitchFamily="34" charset="-120"/>
              </a:rPr>
              <a:t>Market monitors</a:t>
            </a:r>
            <a:endParaRPr lang="en-US" sz="2000" dirty="0"/>
          </a:p>
        </p:txBody>
      </p:sp>
      <p:sp>
        <p:nvSpPr>
          <p:cNvPr id="8" name="Text 6"/>
          <p:cNvSpPr txBox="1"/>
          <p:nvPr/>
        </p:nvSpPr>
        <p:spPr>
          <a:xfrm>
            <a:off x="6492240" y="2194560"/>
            <a:ext cx="4846320" cy="1280160"/>
          </a:xfrm>
          <a:prstGeom prst="rect">
            <a:avLst/>
          </a:prstGeom>
          <a:noFill/>
          <a:ln/>
        </p:spPr>
        <p:txBody>
          <a:bodyPr wrap="square" lIns="0" tIns="0" rIns="0" bIns="0" rtlCol="0" anchor="t"/>
          <a:lstStyle/>
          <a:p>
            <a:pPr marL="0" indent="0">
              <a:buNone/>
            </a:pPr>
            <a:r>
              <a:rPr lang="en-US" sz="1600" dirty="0">
                <a:solidFill>
                  <a:srgbClr val="1E2A44"/>
                </a:solidFill>
                <a:latin typeface="Times New Roman" pitchFamily="34" charset="0"/>
                <a:ea typeface="Times New Roman" pitchFamily="34" charset="-122"/>
                <a:cs typeface="Times New Roman" pitchFamily="34" charset="-120"/>
              </a:rPr>
              <a:t>A fall in profits is not proof of competition. Compare prices with both the competitive and the monopoly benchmark.</a:t>
            </a:r>
            <a:endParaRPr lang="en-US" sz="1600" dirty="0"/>
          </a:p>
        </p:txBody>
      </p:sp>
      <p:sp>
        <p:nvSpPr>
          <p:cNvPr id="9" name="Shape 7"/>
          <p:cNvSpPr/>
          <p:nvPr/>
        </p:nvSpPr>
        <p:spPr>
          <a:xfrm>
            <a:off x="548640" y="3840480"/>
            <a:ext cx="5394960" cy="2103120"/>
          </a:xfrm>
          <a:prstGeom prst="roundRect">
            <a:avLst>
              <a:gd name="adj" fmla="val 6087"/>
            </a:avLst>
          </a:prstGeom>
          <a:solidFill>
            <a:srgbClr val="E4EEDF"/>
          </a:solidFill>
          <a:ln w="12700">
            <a:solidFill>
              <a:srgbClr val="E7DCCB"/>
            </a:solidFill>
            <a:prstDash val="solid"/>
          </a:ln>
          <a:effectLst>
            <a:outerShdw blurRad="76200" dist="25400" dir="5400000" algn="bl" rotWithShape="0">
              <a:srgbClr val="BFB3A0">
                <a:alpha val="25000"/>
              </a:srgbClr>
            </a:outerShdw>
          </a:effectLst>
        </p:spPr>
      </p:sp>
      <p:sp>
        <p:nvSpPr>
          <p:cNvPr id="10" name="Text 8"/>
          <p:cNvSpPr txBox="1"/>
          <p:nvPr/>
        </p:nvSpPr>
        <p:spPr>
          <a:xfrm>
            <a:off x="822960" y="4069080"/>
            <a:ext cx="4846320" cy="411480"/>
          </a:xfrm>
          <a:prstGeom prst="rect">
            <a:avLst/>
          </a:prstGeom>
          <a:noFill/>
          <a:ln/>
        </p:spPr>
        <p:txBody>
          <a:bodyPr wrap="square" lIns="0" tIns="0" rIns="0" bIns="0" rtlCol="0" anchor="t"/>
          <a:lstStyle/>
          <a:p>
            <a:pPr marL="0" indent="0">
              <a:buNone/>
            </a:pPr>
            <a:r>
              <a:rPr lang="en-US" sz="2000" b="1" dirty="0">
                <a:solidFill>
                  <a:srgbClr val="5E8C61"/>
                </a:solidFill>
                <a:latin typeface="Times New Roman" pitchFamily="34" charset="0"/>
                <a:ea typeface="Times New Roman" pitchFamily="34" charset="-122"/>
                <a:cs typeface="Times New Roman" pitchFamily="34" charset="-120"/>
              </a:rPr>
              <a:t>Auditors</a:t>
            </a:r>
            <a:endParaRPr lang="en-US" sz="2000" dirty="0"/>
          </a:p>
        </p:txBody>
      </p:sp>
      <p:sp>
        <p:nvSpPr>
          <p:cNvPr id="11" name="Text 9"/>
          <p:cNvSpPr txBox="1"/>
          <p:nvPr/>
        </p:nvSpPr>
        <p:spPr>
          <a:xfrm>
            <a:off x="822960" y="4572000"/>
            <a:ext cx="4846320" cy="1280160"/>
          </a:xfrm>
          <a:prstGeom prst="rect">
            <a:avLst/>
          </a:prstGeom>
          <a:noFill/>
          <a:ln/>
        </p:spPr>
        <p:txBody>
          <a:bodyPr wrap="square" lIns="0" tIns="0" rIns="0" bIns="0" rtlCol="0" anchor="t"/>
          <a:lstStyle/>
          <a:p>
            <a:pPr marL="0" indent="0">
              <a:buNone/>
            </a:pPr>
            <a:r>
              <a:rPr lang="en-US" sz="1600" dirty="0">
                <a:solidFill>
                  <a:srgbClr val="1E2A44"/>
                </a:solidFill>
                <a:latin typeface="Times New Roman" pitchFamily="34" charset="0"/>
                <a:ea typeface="Times New Roman" pitchFamily="34" charset="-122"/>
                <a:cs typeface="Times New Roman" pitchFamily="34" charset="-120"/>
              </a:rPr>
              <a:t>Calibrate enforcement tests against agents that cannot punish, or ordinary price following looks like a cartel.</a:t>
            </a:r>
            <a:endParaRPr lang="en-US" sz="1600" dirty="0"/>
          </a:p>
        </p:txBody>
      </p:sp>
      <p:sp>
        <p:nvSpPr>
          <p:cNvPr id="12" name="Shape 10"/>
          <p:cNvSpPr/>
          <p:nvPr/>
        </p:nvSpPr>
        <p:spPr>
          <a:xfrm>
            <a:off x="6217920" y="3840480"/>
            <a:ext cx="5394960" cy="2103120"/>
          </a:xfrm>
          <a:prstGeom prst="roundRect">
            <a:avLst>
              <a:gd name="adj" fmla="val 6087"/>
            </a:avLst>
          </a:prstGeom>
          <a:solidFill>
            <a:srgbClr val="E8E3F2"/>
          </a:solidFill>
          <a:ln w="12700">
            <a:solidFill>
              <a:srgbClr val="E7DCCB"/>
            </a:solidFill>
            <a:prstDash val="solid"/>
          </a:ln>
          <a:effectLst>
            <a:outerShdw blurRad="76200" dist="25400" dir="5400000" algn="bl" rotWithShape="0">
              <a:srgbClr val="BFB3A0">
                <a:alpha val="25000"/>
              </a:srgbClr>
            </a:outerShdw>
          </a:effectLst>
        </p:spPr>
      </p:sp>
      <p:sp>
        <p:nvSpPr>
          <p:cNvPr id="13" name="Text 11"/>
          <p:cNvSpPr txBox="1"/>
          <p:nvPr/>
        </p:nvSpPr>
        <p:spPr>
          <a:xfrm>
            <a:off x="6492240" y="4069080"/>
            <a:ext cx="4846320" cy="411480"/>
          </a:xfrm>
          <a:prstGeom prst="rect">
            <a:avLst/>
          </a:prstGeom>
          <a:noFill/>
          <a:ln/>
        </p:spPr>
        <p:txBody>
          <a:bodyPr wrap="square" lIns="0" tIns="0" rIns="0" bIns="0" rtlCol="0" anchor="t"/>
          <a:lstStyle/>
          <a:p>
            <a:pPr marL="0" indent="0">
              <a:buNone/>
            </a:pPr>
            <a:r>
              <a:rPr lang="en-US" sz="2000" b="1" dirty="0">
                <a:solidFill>
                  <a:srgbClr val="6A5A9C"/>
                </a:solidFill>
                <a:latin typeface="Times New Roman" pitchFamily="34" charset="0"/>
                <a:ea typeface="Times New Roman" pitchFamily="34" charset="-122"/>
                <a:cs typeface="Times New Roman" pitchFamily="34" charset="-120"/>
              </a:rPr>
              <a:t>AI safety</a:t>
            </a:r>
            <a:endParaRPr lang="en-US" sz="2000" dirty="0"/>
          </a:p>
        </p:txBody>
      </p:sp>
      <p:sp>
        <p:nvSpPr>
          <p:cNvPr id="14" name="Text 12"/>
          <p:cNvSpPr txBox="1"/>
          <p:nvPr/>
        </p:nvSpPr>
        <p:spPr>
          <a:xfrm>
            <a:off x="6492240" y="4572000"/>
            <a:ext cx="4846320" cy="1280160"/>
          </a:xfrm>
          <a:prstGeom prst="rect">
            <a:avLst/>
          </a:prstGeom>
          <a:noFill/>
          <a:ln/>
        </p:spPr>
        <p:txBody>
          <a:bodyPr wrap="square" lIns="0" tIns="0" rIns="0" bIns="0" rtlCol="0" anchor="t"/>
          <a:lstStyle/>
          <a:p>
            <a:pPr marL="0" indent="0">
              <a:buNone/>
            </a:pPr>
            <a:r>
              <a:rPr lang="en-US" sz="1600" dirty="0">
                <a:solidFill>
                  <a:srgbClr val="1E2A44"/>
                </a:solidFill>
                <a:latin typeface="Times New Roman" pitchFamily="34" charset="0"/>
                <a:ea typeface="Times New Roman" pitchFamily="34" charset="-122"/>
                <a:cs typeface="Times New Roman" pitchFamily="34" charset="-120"/>
              </a:rPr>
              <a:t>Coordination stored in shared memory, logs or transcripts can outlive the agents that created it.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rgbClr val="1E2A44"/>
                </a:solidFill>
                <a:latin typeface="Times New Roman" pitchFamily="34" charset="0"/>
                <a:ea typeface="Times New Roman" pitchFamily="34" charset="-122"/>
                <a:cs typeface="Times New Roman" pitchFamily="34" charset="-120"/>
              </a:rPr>
              <a:t>Limits, next steps and materials</a:t>
            </a:r>
            <a:endParaRPr lang="en-US" sz="3000" dirty="0"/>
          </a:p>
        </p:txBody>
      </p:sp>
      <p:sp>
        <p:nvSpPr>
          <p:cNvPr id="3" name="Shape 1"/>
          <p:cNvSpPr/>
          <p:nvPr/>
        </p:nvSpPr>
        <p:spPr>
          <a:xfrm>
            <a:off x="548640" y="1417320"/>
            <a:ext cx="5486400" cy="4480560"/>
          </a:xfrm>
          <a:prstGeom prst="roundRect">
            <a:avLst>
              <a:gd name="adj" fmla="val 2857"/>
            </a:avLst>
          </a:prstGeom>
          <a:solidFill>
            <a:srgbClr val="FFFBF4"/>
          </a:solidFill>
          <a:ln w="12700">
            <a:solidFill>
              <a:srgbClr val="E7DCCB"/>
            </a:solidFill>
            <a:prstDash val="solid"/>
          </a:ln>
          <a:effectLst>
            <a:outerShdw blurRad="76200" dist="25400" dir="5400000" algn="bl" rotWithShape="0">
              <a:srgbClr val="BFB3A0">
                <a:alpha val="25000"/>
              </a:srgbClr>
            </a:outerShdw>
          </a:effectLst>
        </p:spPr>
      </p:sp>
      <p:sp>
        <p:nvSpPr>
          <p:cNvPr id="4" name="Text 2"/>
          <p:cNvSpPr txBox="1"/>
          <p:nvPr/>
        </p:nvSpPr>
        <p:spPr>
          <a:xfrm>
            <a:off x="822960" y="1645920"/>
            <a:ext cx="4937760" cy="411480"/>
          </a:xfrm>
          <a:prstGeom prst="rect">
            <a:avLst/>
          </a:prstGeom>
          <a:noFill/>
          <a:ln/>
        </p:spPr>
        <p:txBody>
          <a:bodyPr wrap="square" lIns="0" tIns="0" rIns="0" bIns="0" rtlCol="0" anchor="t"/>
          <a:lstStyle/>
          <a:p>
            <a:pPr marL="0" indent="0">
              <a:buNone/>
            </a:pPr>
            <a:r>
              <a:rPr lang="en-US" sz="2000" b="1" dirty="0">
                <a:solidFill>
                  <a:srgbClr val="1E2A44"/>
                </a:solidFill>
                <a:latin typeface="Times New Roman" pitchFamily="34" charset="0"/>
                <a:ea typeface="Times New Roman" pitchFamily="34" charset="-122"/>
                <a:cs typeface="Times New Roman" pitchFamily="34" charset="-120"/>
              </a:rPr>
              <a:t>Limits</a:t>
            </a:r>
            <a:endParaRPr lang="en-US" sz="2000" dirty="0"/>
          </a:p>
        </p:txBody>
      </p:sp>
      <p:sp>
        <p:nvSpPr>
          <p:cNvPr id="5" name="Text 3"/>
          <p:cNvSpPr txBox="1"/>
          <p:nvPr/>
        </p:nvSpPr>
        <p:spPr>
          <a:xfrm>
            <a:off x="822960" y="2194560"/>
            <a:ext cx="493776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F3B55"/>
                </a:solidFill>
                <a:latin typeface="Times New Roman" pitchFamily="34" charset="0"/>
                <a:ea typeface="Times New Roman" pitchFamily="34" charset="-122"/>
                <a:cs typeface="Times New Roman" pitchFamily="34" charset="-120"/>
              </a:rPr>
              <a:t>One simulated market, one prompt, 7–14B open models.</a:t>
            </a:r>
            <a:endParaRPr lang="en-US" sz="1500" dirty="0"/>
          </a:p>
          <a:p>
            <a:pPr marL="342900" indent="-342900">
              <a:spcAft>
                <a:spcPts val="800"/>
              </a:spcAft>
              <a:buSzPct val="100000"/>
              <a:buChar char="•"/>
            </a:pPr>
            <a:r>
              <a:rPr lang="en-US" sz="1500" dirty="0">
                <a:solidFill>
                  <a:srgbClr val="2F3B55"/>
                </a:solidFill>
                <a:latin typeface="Times New Roman" pitchFamily="34" charset="0"/>
                <a:ea typeface="Times New Roman" pitchFamily="34" charset="-122"/>
                <a:cs typeface="Times New Roman" pitchFamily="34" charset="-120"/>
              </a:rPr>
              <a:t>Only Qwen2.5-7B incumbents kept a stable cartel; two entrant families gave opposite results.</a:t>
            </a:r>
            <a:endParaRPr lang="en-US" sz="1500" dirty="0"/>
          </a:p>
          <a:p>
            <a:pPr marL="342900" indent="-342900">
              <a:spcAft>
                <a:spcPts val="800"/>
              </a:spcAft>
              <a:buSzPct val="100000"/>
              <a:buChar char="•"/>
            </a:pPr>
            <a:r>
              <a:rPr lang="en-US" sz="1500" dirty="0">
                <a:solidFill>
                  <a:srgbClr val="2F3B55"/>
                </a:solidFill>
                <a:latin typeface="Times New Roman" pitchFamily="34" charset="0"/>
                <a:ea typeface="Times New Roman" pitchFamily="34" charset="-122"/>
                <a:cs typeface="Times New Roman" pitchFamily="34" charset="-120"/>
              </a:rPr>
              <a:t>The audit tests a one-round reply to a one-round cut.</a:t>
            </a:r>
            <a:endParaRPr lang="en-US" sz="1500" dirty="0"/>
          </a:p>
          <a:p>
            <a:pPr marL="342900" indent="-342900">
              <a:spcAft>
                <a:spcPts val="800"/>
              </a:spcAft>
              <a:buSzPct val="100000"/>
              <a:buChar char="•"/>
            </a:pPr>
            <a:r>
              <a:rPr lang="en-US" sz="1500" dirty="0">
                <a:solidFill>
                  <a:srgbClr val="2F3B55"/>
                </a:solidFill>
                <a:latin typeface="Times New Roman" pitchFamily="34" charset="0"/>
                <a:ea typeface="Times New Roman" pitchFamily="34" charset="-122"/>
                <a:cs typeface="Times New Roman" pitchFamily="34" charset="-120"/>
              </a:rPr>
              <a:t>Runs 4–5 ran before the sprint start (disclosed).</a:t>
            </a:r>
            <a:endParaRPr lang="en-US" sz="1500" dirty="0"/>
          </a:p>
        </p:txBody>
      </p:sp>
      <p:sp>
        <p:nvSpPr>
          <p:cNvPr id="6" name="Shape 4"/>
          <p:cNvSpPr/>
          <p:nvPr/>
        </p:nvSpPr>
        <p:spPr>
          <a:xfrm>
            <a:off x="6309360" y="1417320"/>
            <a:ext cx="5303520" cy="4480560"/>
          </a:xfrm>
          <a:prstGeom prst="roundRect">
            <a:avLst>
              <a:gd name="adj" fmla="val 2857"/>
            </a:avLst>
          </a:prstGeom>
          <a:solidFill>
            <a:srgbClr val="FFFBF4"/>
          </a:solidFill>
          <a:ln w="12700">
            <a:solidFill>
              <a:srgbClr val="E7DCCB"/>
            </a:solidFill>
            <a:prstDash val="solid"/>
          </a:ln>
          <a:effectLst>
            <a:outerShdw blurRad="76200" dist="25400" dir="5400000" algn="bl" rotWithShape="0">
              <a:srgbClr val="BFB3A0">
                <a:alpha val="25000"/>
              </a:srgbClr>
            </a:outerShdw>
          </a:effectLst>
        </p:spPr>
      </p:sp>
      <p:sp>
        <p:nvSpPr>
          <p:cNvPr id="7" name="Text 5"/>
          <p:cNvSpPr txBox="1"/>
          <p:nvPr/>
        </p:nvSpPr>
        <p:spPr>
          <a:xfrm>
            <a:off x="6583680" y="1645920"/>
            <a:ext cx="4754880" cy="411480"/>
          </a:xfrm>
          <a:prstGeom prst="rect">
            <a:avLst/>
          </a:prstGeom>
          <a:noFill/>
          <a:ln/>
        </p:spPr>
        <p:txBody>
          <a:bodyPr wrap="square" lIns="0" tIns="0" rIns="0" bIns="0" rtlCol="0" anchor="t"/>
          <a:lstStyle/>
          <a:p>
            <a:pPr marL="0" indent="0">
              <a:buNone/>
            </a:pPr>
            <a:r>
              <a:rPr lang="en-US" sz="2000" b="1" dirty="0">
                <a:solidFill>
                  <a:srgbClr val="1E2A44"/>
                </a:solidFill>
                <a:latin typeface="Times New Roman" pitchFamily="34" charset="0"/>
                <a:ea typeface="Times New Roman" pitchFamily="34" charset="-122"/>
                <a:cs typeface="Times New Roman" pitchFamily="34" charset="-120"/>
              </a:rPr>
              <a:t>Next steps</a:t>
            </a:r>
            <a:endParaRPr lang="en-US" sz="2000" dirty="0"/>
          </a:p>
        </p:txBody>
      </p:sp>
      <p:sp>
        <p:nvSpPr>
          <p:cNvPr id="8" name="Text 6"/>
          <p:cNvSpPr txBox="1"/>
          <p:nvPr/>
        </p:nvSpPr>
        <p:spPr>
          <a:xfrm>
            <a:off x="6583680" y="2194560"/>
            <a:ext cx="47548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F3B55"/>
                </a:solidFill>
                <a:latin typeface="Times New Roman" pitchFamily="34" charset="0"/>
                <a:ea typeface="Times New Roman" pitchFamily="34" charset="-122"/>
                <a:cs typeface="Times New Roman" pitchFamily="34" charset="-120"/>
              </a:rPr>
              <a:t>More model families; test the price-hold rate as a predictor.</a:t>
            </a:r>
            <a:endParaRPr lang="en-US" sz="1500" dirty="0"/>
          </a:p>
          <a:p>
            <a:pPr marL="342900" indent="-342900">
              <a:spcAft>
                <a:spcPts val="800"/>
              </a:spcAft>
              <a:buSzPct val="100000"/>
              <a:buChar char="•"/>
            </a:pPr>
            <a:r>
              <a:rPr lang="en-US" sz="1500" dirty="0">
                <a:solidFill>
                  <a:srgbClr val="2F3B55"/>
                </a:solidFill>
                <a:latin typeface="Times New Roman" pitchFamily="34" charset="0"/>
                <a:ea typeface="Times New Roman" pitchFamily="34" charset="-122"/>
                <a:cs typeface="Times New Roman" pitchFamily="34" charset="-120"/>
              </a:rPr>
              <a:t>Vary the inherited history from 0 to 30 rounds.</a:t>
            </a:r>
            <a:endParaRPr lang="en-US" sz="1500" dirty="0"/>
          </a:p>
          <a:p>
            <a:pPr marL="342900" indent="-342900">
              <a:spcAft>
                <a:spcPts val="800"/>
              </a:spcAft>
              <a:buSzPct val="100000"/>
              <a:buChar char="•"/>
            </a:pPr>
            <a:r>
              <a:rPr lang="en-US" sz="1500" dirty="0">
                <a:solidFill>
                  <a:srgbClr val="2F3B55"/>
                </a:solidFill>
                <a:latin typeface="Times New Roman" pitchFamily="34" charset="0"/>
                <a:ea typeface="Times New Roman" pitchFamily="34" charset="-122"/>
                <a:cs typeface="Times New Roman" pitchFamily="34" charset="-120"/>
              </a:rPr>
              <a:t>Multi-round audits; remedies that redact shared memory.</a:t>
            </a:r>
            <a:endParaRPr lang="en-US" sz="1500" dirty="0"/>
          </a:p>
        </p:txBody>
      </p:sp>
      <p:sp>
        <p:nvSpPr>
          <p:cNvPr id="9" name="Text 7"/>
          <p:cNvSpPr txBox="1"/>
          <p:nvPr/>
        </p:nvSpPr>
        <p:spPr>
          <a:xfrm>
            <a:off x="6583680" y="4343400"/>
            <a:ext cx="4754880" cy="365760"/>
          </a:xfrm>
          <a:prstGeom prst="rect">
            <a:avLst/>
          </a:prstGeom>
          <a:noFill/>
          <a:ln/>
        </p:spPr>
        <p:txBody>
          <a:bodyPr wrap="square" lIns="0" tIns="0" rIns="0" bIns="0" rtlCol="0" anchor="t"/>
          <a:lstStyle/>
          <a:p>
            <a:pPr marL="0" indent="0">
              <a:buNone/>
            </a:pPr>
            <a:r>
              <a:rPr lang="en-US" sz="1500" b="1" dirty="0">
                <a:solidFill>
                  <a:srgbClr val="1E2A44"/>
                </a:solidFill>
                <a:latin typeface="Times New Roman" pitchFamily="34" charset="0"/>
                <a:ea typeface="Times New Roman" pitchFamily="34" charset="-122"/>
                <a:cs typeface="Times New Roman" pitchFamily="34" charset="-120"/>
              </a:rPr>
              <a:t>Code:</a:t>
            </a:r>
            <a:endParaRPr lang="en-US" sz="1500" dirty="0"/>
          </a:p>
        </p:txBody>
      </p:sp>
      <p:sp>
        <p:nvSpPr>
          <p:cNvPr id="10" name="Text 8"/>
          <p:cNvSpPr txBox="1"/>
          <p:nvPr/>
        </p:nvSpPr>
        <p:spPr>
          <a:xfrm>
            <a:off x="6583680" y="4709160"/>
            <a:ext cx="4846320" cy="365760"/>
          </a:xfrm>
          <a:prstGeom prst="rect">
            <a:avLst/>
          </a:prstGeom>
          <a:noFill/>
          <a:ln/>
        </p:spPr>
        <p:txBody>
          <a:bodyPr wrap="square" lIns="0" tIns="0" rIns="0" bIns="0" rtlCol="0" anchor="t"/>
          <a:lstStyle/>
          <a:p>
            <a:pPr marL="0" indent="0">
              <a:buNone/>
            </a:pPr>
            <a:r>
              <a:rPr lang="en-US" sz="1400" u="sng" dirty="0">
                <a:solidFill>
                  <a:srgbClr val="1F6F8B"/>
                </a:solidFill>
                <a:latin typeface="Times New Roman" pitchFamily="34" charset="0"/>
                <a:ea typeface="Times New Roman" pitchFamily="34" charset="-122"/>
                <a:cs typeface="Times New Roman" pitchFamily="34" charset="-120"/>
                <a:hlinkClick r:id="rId3">
                  <a:extLst>
                    <a:ext uri="{A12FA001-AC4F-418D-AE19-62706E023703}">
                      <ahyp:hlinkClr xmlns:ahyp="http://schemas.microsoft.com/office/drawing/2018/hyperlinkcolor" val="tx"/>
                    </a:ext>
                  </a:extLst>
                </a:hlinkClick>
              </a:rPr>
              <a:t>github.com/SupratikB23/LLM-Cartel-Succession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26B7F"/>
                </a:solidFill>
                <a:latin typeface="Times New Roman"/>
                <a:ea typeface="Times New Roman"/>
                <a:cs typeface="Times New Roman"/>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1405</Words>
  <Application>Microsoft Office PowerPoint</Application>
  <PresentationFormat>Widescreen</PresentationFormat>
  <Paragraphs>155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If a firm replaces its AI pricing agent, does collusion end?</vt:lpstr>
      <vt:lpstr>A simulated two-firm market with LLM pricing agents</vt:lpstr>
      <vt:lpstr>Copy every cartel into eight exactly paired worlds</vt:lpstr>
      <vt:lpstr>Result 1: the price history carries the cartel</vt:lpstr>
      <vt:lpstr>Result 2: without the history, prices overshoot</vt:lpstr>
      <vt:lpstr>Result 3: the new model's pricing style decides the outcome</vt:lpstr>
      <vt:lpstr>Result 4: the surviving prices are anchored, not enforced</vt:lpstr>
      <vt:lpstr>What this means: govern the transcript, not only the agent</vt:lpstr>
      <vt:lpstr>Limits, next steps and materials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Carries the Cartel?</dc:title>
  <dc:subject>PptxGenJS Presentation</dc:subject>
  <dc:creator>Supratik Bhowal</dc:creator>
  <cp:lastModifiedBy>Supratik  Bhowal</cp:lastModifiedBy>
  <cp:revision>3</cp:revision>
  <dcterms:created xsi:type="dcterms:W3CDTF">2026-10-24T05:53:31Z</dcterms:created>
  <dcterms:modified xsi:type="dcterms:W3CDTF">2026-10-24T05:57:10Z</dcterms:modified>
</cp:coreProperties>
</file>